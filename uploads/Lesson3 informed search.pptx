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ore0.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metadata/core-properties" Target="docProps/core0.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1" r:id="rId1"/>
    <p:sldMasterId id="2147483674" r:id="rId2"/>
  </p:sldMasterIdLst>
  <p:notesMasterIdLst>
    <p:notesMasterId r:id="rId44"/>
  </p:notesMasterIdLst>
  <p:sldIdLst>
    <p:sldId id="280" r:id="rId3"/>
    <p:sldId id="266" r:id="rId4"/>
    <p:sldId id="282" r:id="rId5"/>
    <p:sldId id="285" r:id="rId6"/>
    <p:sldId id="286" r:id="rId7"/>
    <p:sldId id="287" r:id="rId8"/>
    <p:sldId id="289" r:id="rId9"/>
    <p:sldId id="292" r:id="rId10"/>
    <p:sldId id="290" r:id="rId11"/>
    <p:sldId id="293" r:id="rId12"/>
    <p:sldId id="291" r:id="rId13"/>
    <p:sldId id="319" r:id="rId14"/>
    <p:sldId id="294" r:id="rId15"/>
    <p:sldId id="295" r:id="rId16"/>
    <p:sldId id="296" r:id="rId17"/>
    <p:sldId id="320" r:id="rId18"/>
    <p:sldId id="297" r:id="rId19"/>
    <p:sldId id="298" r:id="rId20"/>
    <p:sldId id="299" r:id="rId21"/>
    <p:sldId id="300" r:id="rId22"/>
    <p:sldId id="301" r:id="rId23"/>
    <p:sldId id="302" r:id="rId24"/>
    <p:sldId id="303" r:id="rId25"/>
    <p:sldId id="304" r:id="rId26"/>
    <p:sldId id="305" r:id="rId27"/>
    <p:sldId id="306" r:id="rId28"/>
    <p:sldId id="321" r:id="rId29"/>
    <p:sldId id="307" r:id="rId30"/>
    <p:sldId id="308" r:id="rId31"/>
    <p:sldId id="309" r:id="rId32"/>
    <p:sldId id="310" r:id="rId33"/>
    <p:sldId id="311" r:id="rId34"/>
    <p:sldId id="312" r:id="rId35"/>
    <p:sldId id="314" r:id="rId36"/>
    <p:sldId id="315" r:id="rId37"/>
    <p:sldId id="316" r:id="rId38"/>
    <p:sldId id="317" r:id="rId39"/>
    <p:sldId id="318" r:id="rId40"/>
    <p:sldId id="322" r:id="rId41"/>
    <p:sldId id="323" r:id="rId42"/>
    <p:sldId id="278" r:id="rId43"/>
  </p:sldIdLst>
  <p:sldSz cx="10080625" cy="5670550"/>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66" d="100"/>
          <a:sy n="66" d="100"/>
        </p:scale>
        <p:origin x="-1314" y="-402"/>
      </p:cViewPr>
      <p:guideLst>
        <p:guide orient="horz" pos="1786"/>
        <p:guide pos="3175"/>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276600" cy="5349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281488" y="0"/>
            <a:ext cx="3276600" cy="534988"/>
          </a:xfrm>
          <a:prstGeom prst="rect">
            <a:avLst/>
          </a:prstGeom>
        </p:spPr>
        <p:txBody>
          <a:bodyPr vert="horz" lIns="91440" tIns="45720" rIns="91440" bIns="45720" rtlCol="0"/>
          <a:lstStyle>
            <a:lvl1pPr algn="r">
              <a:defRPr sz="1200"/>
            </a:lvl1pPr>
          </a:lstStyle>
          <a:p>
            <a:fld id="{F3CD42EF-F584-4855-8FFD-726442AF1A6A}" type="datetimeFigureOut">
              <a:rPr lang="en-US" smtClean="0"/>
              <a:t>7/9/2020</a:t>
            </a:fld>
            <a:endParaRPr lang="en-US"/>
          </a:p>
        </p:txBody>
      </p:sp>
      <p:sp>
        <p:nvSpPr>
          <p:cNvPr id="4" name="Slide Image Placeholder 3"/>
          <p:cNvSpPr>
            <a:spLocks noGrp="1" noRot="1" noChangeAspect="1"/>
          </p:cNvSpPr>
          <p:nvPr>
            <p:ph type="sldImg" idx="2"/>
          </p:nvPr>
        </p:nvSpPr>
        <p:spPr>
          <a:xfrm>
            <a:off x="215900" y="801688"/>
            <a:ext cx="7127875" cy="401002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55650" y="5078413"/>
            <a:ext cx="6048375" cy="4811712"/>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10155238"/>
            <a:ext cx="3276600" cy="5349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4281488" y="10155238"/>
            <a:ext cx="3276600" cy="534987"/>
          </a:xfrm>
          <a:prstGeom prst="rect">
            <a:avLst/>
          </a:prstGeom>
        </p:spPr>
        <p:txBody>
          <a:bodyPr vert="horz" lIns="91440" tIns="45720" rIns="91440" bIns="45720" rtlCol="0" anchor="b"/>
          <a:lstStyle>
            <a:lvl1pPr algn="r">
              <a:defRPr sz="1200"/>
            </a:lvl1pPr>
          </a:lstStyle>
          <a:p>
            <a:fld id="{53217B14-048E-4067-880D-B0033D009271}" type="slidenum">
              <a:rPr lang="en-US" smtClean="0"/>
              <a:t>‹#›</a:t>
            </a:fld>
            <a:endParaRPr lang="en-US"/>
          </a:p>
        </p:txBody>
      </p:sp>
    </p:spTree>
    <p:extLst>
      <p:ext uri="{BB962C8B-B14F-4D97-AF65-F5344CB8AC3E}">
        <p14:creationId xmlns:p14="http://schemas.microsoft.com/office/powerpoint/2010/main" val="15453889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3217B14-048E-4067-880D-B0033D009271}" type="slidenum">
              <a:rPr lang="en-US" smtClean="0"/>
              <a:t>5</a:t>
            </a:fld>
            <a:endParaRPr lang="en-US"/>
          </a:p>
        </p:txBody>
      </p:sp>
    </p:spTree>
    <p:extLst>
      <p:ext uri="{BB962C8B-B14F-4D97-AF65-F5344CB8AC3E}">
        <p14:creationId xmlns:p14="http://schemas.microsoft.com/office/powerpoint/2010/main" val="33408393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42" name="PlaceHolder 1"/>
          <p:cNvSpPr>
            <a:spLocks noGrp="1"/>
          </p:cNvSpPr>
          <p:nvPr>
            <p:ph type="title"/>
          </p:nvPr>
        </p:nvSpPr>
        <p:spPr>
          <a:xfrm>
            <a:off x="1079640" y="225720"/>
            <a:ext cx="8494560" cy="946080"/>
          </a:xfrm>
          <a:prstGeom prst="rect">
            <a:avLst/>
          </a:prstGeom>
        </p:spPr>
        <p:txBody>
          <a:bodyPr lIns="0" tIns="0" rIns="0" bIns="0" anchor="ctr">
            <a:noAutofit/>
          </a:bodyPr>
          <a:lstStyle/>
          <a:p>
            <a:pPr algn="ctr"/>
            <a:endParaRPr lang="en-GB" sz="4400" b="0" strike="noStrike" spc="-1">
              <a:latin typeface="Arial"/>
            </a:endParaRPr>
          </a:p>
        </p:txBody>
      </p:sp>
      <p:sp>
        <p:nvSpPr>
          <p:cNvPr id="43" name="PlaceHolder 2"/>
          <p:cNvSpPr>
            <a:spLocks noGrp="1"/>
          </p:cNvSpPr>
          <p:nvPr>
            <p:ph type="subTitle"/>
          </p:nvPr>
        </p:nvSpPr>
        <p:spPr>
          <a:xfrm>
            <a:off x="503640" y="1326240"/>
            <a:ext cx="9070560" cy="3856680"/>
          </a:xfrm>
          <a:prstGeom prst="rect">
            <a:avLst/>
          </a:prstGeom>
        </p:spPr>
        <p:txBody>
          <a:bodyPr lIns="0" tIns="0" rIns="0" bIns="0" anchor="ctr">
            <a:noAutofit/>
          </a:bodyPr>
          <a:lstStyle/>
          <a:p>
            <a:pPr algn="ctr"/>
            <a:endParaRPr lang="en-GB" sz="3200" b="0" strike="noStrike" spc="-1">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4" name="PlaceHolder 1"/>
          <p:cNvSpPr>
            <a:spLocks noGrp="1"/>
          </p:cNvSpPr>
          <p:nvPr>
            <p:ph type="title"/>
          </p:nvPr>
        </p:nvSpPr>
        <p:spPr>
          <a:xfrm>
            <a:off x="1079640" y="225720"/>
            <a:ext cx="8494560" cy="946080"/>
          </a:xfrm>
          <a:prstGeom prst="rect">
            <a:avLst/>
          </a:prstGeom>
        </p:spPr>
        <p:txBody>
          <a:bodyPr lIns="0" tIns="0" rIns="0" bIns="0" anchor="ctr">
            <a:noAutofit/>
          </a:bodyPr>
          <a:lstStyle/>
          <a:p>
            <a:pPr algn="ctr"/>
            <a:endParaRPr lang="en-GB" sz="4400" b="0" strike="noStrike" spc="-1">
              <a:latin typeface="Arial"/>
            </a:endParaRPr>
          </a:p>
        </p:txBody>
      </p:sp>
      <p:sp>
        <p:nvSpPr>
          <p:cNvPr id="45" name="PlaceHolder 2"/>
          <p:cNvSpPr>
            <a:spLocks noGrp="1"/>
          </p:cNvSpPr>
          <p:nvPr>
            <p:ph type="body"/>
          </p:nvPr>
        </p:nvSpPr>
        <p:spPr>
          <a:xfrm>
            <a:off x="503640" y="1326240"/>
            <a:ext cx="9070560" cy="3856680"/>
          </a:xfrm>
          <a:prstGeom prst="rect">
            <a:avLst/>
          </a:prstGeom>
        </p:spPr>
        <p:txBody>
          <a:bodyPr lIns="0" tIns="0" rIns="0" bIns="0">
            <a:normAutofit/>
          </a:bodyPr>
          <a:lstStyle/>
          <a:p>
            <a:endParaRPr lang="en-GB" sz="3200" b="0" strike="noStrike" spc="-1">
              <a:latin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46" name="PlaceHolder 1"/>
          <p:cNvSpPr>
            <a:spLocks noGrp="1"/>
          </p:cNvSpPr>
          <p:nvPr>
            <p:ph type="title"/>
          </p:nvPr>
        </p:nvSpPr>
        <p:spPr>
          <a:xfrm>
            <a:off x="1079640" y="225720"/>
            <a:ext cx="8494560" cy="946080"/>
          </a:xfrm>
          <a:prstGeom prst="rect">
            <a:avLst/>
          </a:prstGeom>
        </p:spPr>
        <p:txBody>
          <a:bodyPr lIns="0" tIns="0" rIns="0" bIns="0" anchor="ctr">
            <a:noAutofit/>
          </a:bodyPr>
          <a:lstStyle/>
          <a:p>
            <a:pPr algn="ctr"/>
            <a:endParaRPr lang="en-GB" sz="4400" b="0" strike="noStrike" spc="-1">
              <a:latin typeface="Arial"/>
            </a:endParaRPr>
          </a:p>
        </p:txBody>
      </p:sp>
      <p:sp>
        <p:nvSpPr>
          <p:cNvPr id="47" name="PlaceHolder 2"/>
          <p:cNvSpPr>
            <a:spLocks noGrp="1"/>
          </p:cNvSpPr>
          <p:nvPr>
            <p:ph type="body"/>
          </p:nvPr>
        </p:nvSpPr>
        <p:spPr>
          <a:xfrm>
            <a:off x="503640" y="1326240"/>
            <a:ext cx="4426200" cy="3856680"/>
          </a:xfrm>
          <a:prstGeom prst="rect">
            <a:avLst/>
          </a:prstGeom>
        </p:spPr>
        <p:txBody>
          <a:bodyPr lIns="0" tIns="0" rIns="0" bIns="0">
            <a:normAutofit/>
          </a:bodyPr>
          <a:lstStyle/>
          <a:p>
            <a:endParaRPr lang="en-GB" sz="3200" b="0" strike="noStrike" spc="-1">
              <a:latin typeface="Arial"/>
            </a:endParaRPr>
          </a:p>
        </p:txBody>
      </p:sp>
      <p:sp>
        <p:nvSpPr>
          <p:cNvPr id="48" name="PlaceHolder 3"/>
          <p:cNvSpPr>
            <a:spLocks noGrp="1"/>
          </p:cNvSpPr>
          <p:nvPr>
            <p:ph type="body"/>
          </p:nvPr>
        </p:nvSpPr>
        <p:spPr>
          <a:xfrm>
            <a:off x="5151600" y="1326240"/>
            <a:ext cx="4426200" cy="3856680"/>
          </a:xfrm>
          <a:prstGeom prst="rect">
            <a:avLst/>
          </a:prstGeom>
        </p:spPr>
        <p:txBody>
          <a:bodyPr lIns="0" tIns="0" rIns="0" bIns="0">
            <a:normAutofit/>
          </a:bodyPr>
          <a:lstStyle/>
          <a:p>
            <a:endParaRPr lang="en-GB" sz="3200" b="0" strike="noStrike" spc="-1">
              <a:latin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49" name="PlaceHolder 1"/>
          <p:cNvSpPr>
            <a:spLocks noGrp="1"/>
          </p:cNvSpPr>
          <p:nvPr>
            <p:ph type="title"/>
          </p:nvPr>
        </p:nvSpPr>
        <p:spPr>
          <a:xfrm>
            <a:off x="1079640" y="225720"/>
            <a:ext cx="8494560" cy="946080"/>
          </a:xfrm>
          <a:prstGeom prst="rect">
            <a:avLst/>
          </a:prstGeom>
        </p:spPr>
        <p:txBody>
          <a:bodyPr lIns="0" tIns="0" rIns="0" bIns="0" anchor="ctr">
            <a:noAutofit/>
          </a:bodyPr>
          <a:lstStyle/>
          <a:p>
            <a:pPr algn="ctr"/>
            <a:endParaRPr lang="en-GB" sz="4400" b="0" strike="noStrike" spc="-1">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50" name="PlaceHolder 1"/>
          <p:cNvSpPr>
            <a:spLocks noGrp="1"/>
          </p:cNvSpPr>
          <p:nvPr>
            <p:ph type="subTitle"/>
          </p:nvPr>
        </p:nvSpPr>
        <p:spPr>
          <a:xfrm>
            <a:off x="1079640" y="225720"/>
            <a:ext cx="8494560" cy="4386600"/>
          </a:xfrm>
          <a:prstGeom prst="rect">
            <a:avLst/>
          </a:prstGeom>
        </p:spPr>
        <p:txBody>
          <a:bodyPr lIns="0" tIns="0" rIns="0" bIns="0" anchor="ctr">
            <a:noAutofit/>
          </a:bodyPr>
          <a:lstStyle/>
          <a:p>
            <a:pPr algn="ctr"/>
            <a:endParaRPr lang="en-GB"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51" name="PlaceHolder 1"/>
          <p:cNvSpPr>
            <a:spLocks noGrp="1"/>
          </p:cNvSpPr>
          <p:nvPr>
            <p:ph type="title"/>
          </p:nvPr>
        </p:nvSpPr>
        <p:spPr>
          <a:xfrm>
            <a:off x="1079640" y="225720"/>
            <a:ext cx="8494560" cy="946080"/>
          </a:xfrm>
          <a:prstGeom prst="rect">
            <a:avLst/>
          </a:prstGeom>
        </p:spPr>
        <p:txBody>
          <a:bodyPr lIns="0" tIns="0" rIns="0" bIns="0" anchor="ctr">
            <a:noAutofit/>
          </a:bodyPr>
          <a:lstStyle/>
          <a:p>
            <a:pPr algn="ctr"/>
            <a:endParaRPr lang="en-GB" sz="4400" b="0" strike="noStrike" spc="-1">
              <a:latin typeface="Arial"/>
            </a:endParaRPr>
          </a:p>
        </p:txBody>
      </p:sp>
      <p:sp>
        <p:nvSpPr>
          <p:cNvPr id="52" name="PlaceHolder 2"/>
          <p:cNvSpPr>
            <a:spLocks noGrp="1"/>
          </p:cNvSpPr>
          <p:nvPr>
            <p:ph type="body"/>
          </p:nvPr>
        </p:nvSpPr>
        <p:spPr>
          <a:xfrm>
            <a:off x="503640" y="1326240"/>
            <a:ext cx="4426200" cy="1839600"/>
          </a:xfrm>
          <a:prstGeom prst="rect">
            <a:avLst/>
          </a:prstGeom>
        </p:spPr>
        <p:txBody>
          <a:bodyPr lIns="0" tIns="0" rIns="0" bIns="0">
            <a:normAutofit/>
          </a:bodyPr>
          <a:lstStyle/>
          <a:p>
            <a:endParaRPr lang="en-GB" sz="3200" b="0" strike="noStrike" spc="-1">
              <a:latin typeface="Arial"/>
            </a:endParaRPr>
          </a:p>
        </p:txBody>
      </p:sp>
      <p:sp>
        <p:nvSpPr>
          <p:cNvPr id="53" name="PlaceHolder 3"/>
          <p:cNvSpPr>
            <a:spLocks noGrp="1"/>
          </p:cNvSpPr>
          <p:nvPr>
            <p:ph type="body"/>
          </p:nvPr>
        </p:nvSpPr>
        <p:spPr>
          <a:xfrm>
            <a:off x="5151600" y="1326240"/>
            <a:ext cx="4426200" cy="3856680"/>
          </a:xfrm>
          <a:prstGeom prst="rect">
            <a:avLst/>
          </a:prstGeom>
        </p:spPr>
        <p:txBody>
          <a:bodyPr lIns="0" tIns="0" rIns="0" bIns="0">
            <a:normAutofit/>
          </a:bodyPr>
          <a:lstStyle/>
          <a:p>
            <a:endParaRPr lang="en-GB" sz="3200" b="0" strike="noStrike" spc="-1">
              <a:latin typeface="Arial"/>
            </a:endParaRPr>
          </a:p>
        </p:txBody>
      </p:sp>
      <p:sp>
        <p:nvSpPr>
          <p:cNvPr id="54" name="PlaceHolder 4"/>
          <p:cNvSpPr>
            <a:spLocks noGrp="1"/>
          </p:cNvSpPr>
          <p:nvPr>
            <p:ph type="body"/>
          </p:nvPr>
        </p:nvSpPr>
        <p:spPr>
          <a:xfrm>
            <a:off x="503640" y="3341160"/>
            <a:ext cx="4426200" cy="1839600"/>
          </a:xfrm>
          <a:prstGeom prst="rect">
            <a:avLst/>
          </a:prstGeom>
        </p:spPr>
        <p:txBody>
          <a:bodyPr lIns="0" tIns="0" rIns="0" bIns="0">
            <a:normAutofit/>
          </a:bodyPr>
          <a:lstStyle/>
          <a:p>
            <a:endParaRPr lang="en-GB" sz="3200" b="0" strike="noStrike" spc="-1">
              <a:latin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55" name="PlaceHolder 1"/>
          <p:cNvSpPr>
            <a:spLocks noGrp="1"/>
          </p:cNvSpPr>
          <p:nvPr>
            <p:ph type="title"/>
          </p:nvPr>
        </p:nvSpPr>
        <p:spPr>
          <a:xfrm>
            <a:off x="1079640" y="225720"/>
            <a:ext cx="8494560" cy="946080"/>
          </a:xfrm>
          <a:prstGeom prst="rect">
            <a:avLst/>
          </a:prstGeom>
        </p:spPr>
        <p:txBody>
          <a:bodyPr lIns="0" tIns="0" rIns="0" bIns="0" anchor="ctr">
            <a:noAutofit/>
          </a:bodyPr>
          <a:lstStyle/>
          <a:p>
            <a:pPr algn="ctr"/>
            <a:endParaRPr lang="en-GB" sz="4400" b="0" strike="noStrike" spc="-1">
              <a:latin typeface="Arial"/>
            </a:endParaRPr>
          </a:p>
        </p:txBody>
      </p:sp>
      <p:sp>
        <p:nvSpPr>
          <p:cNvPr id="56" name="PlaceHolder 2"/>
          <p:cNvSpPr>
            <a:spLocks noGrp="1"/>
          </p:cNvSpPr>
          <p:nvPr>
            <p:ph type="body"/>
          </p:nvPr>
        </p:nvSpPr>
        <p:spPr>
          <a:xfrm>
            <a:off x="503640" y="1326240"/>
            <a:ext cx="4426200" cy="3856680"/>
          </a:xfrm>
          <a:prstGeom prst="rect">
            <a:avLst/>
          </a:prstGeom>
        </p:spPr>
        <p:txBody>
          <a:bodyPr lIns="0" tIns="0" rIns="0" bIns="0">
            <a:normAutofit/>
          </a:bodyPr>
          <a:lstStyle/>
          <a:p>
            <a:endParaRPr lang="en-GB" sz="3200" b="0" strike="noStrike" spc="-1">
              <a:latin typeface="Arial"/>
            </a:endParaRPr>
          </a:p>
        </p:txBody>
      </p:sp>
      <p:sp>
        <p:nvSpPr>
          <p:cNvPr id="57" name="PlaceHolder 3"/>
          <p:cNvSpPr>
            <a:spLocks noGrp="1"/>
          </p:cNvSpPr>
          <p:nvPr>
            <p:ph type="body"/>
          </p:nvPr>
        </p:nvSpPr>
        <p:spPr>
          <a:xfrm>
            <a:off x="5151600" y="1326240"/>
            <a:ext cx="4426200" cy="1839600"/>
          </a:xfrm>
          <a:prstGeom prst="rect">
            <a:avLst/>
          </a:prstGeom>
        </p:spPr>
        <p:txBody>
          <a:bodyPr lIns="0" tIns="0" rIns="0" bIns="0">
            <a:normAutofit/>
          </a:bodyPr>
          <a:lstStyle/>
          <a:p>
            <a:endParaRPr lang="en-GB" sz="3200" b="0" strike="noStrike" spc="-1">
              <a:latin typeface="Arial"/>
            </a:endParaRPr>
          </a:p>
        </p:txBody>
      </p:sp>
      <p:sp>
        <p:nvSpPr>
          <p:cNvPr id="58" name="PlaceHolder 4"/>
          <p:cNvSpPr>
            <a:spLocks noGrp="1"/>
          </p:cNvSpPr>
          <p:nvPr>
            <p:ph type="body"/>
          </p:nvPr>
        </p:nvSpPr>
        <p:spPr>
          <a:xfrm>
            <a:off x="5151600" y="3341160"/>
            <a:ext cx="4426200" cy="1839600"/>
          </a:xfrm>
          <a:prstGeom prst="rect">
            <a:avLst/>
          </a:prstGeom>
        </p:spPr>
        <p:txBody>
          <a:bodyPr lIns="0" tIns="0" rIns="0" bIns="0">
            <a:normAutofit/>
          </a:bodyPr>
          <a:lstStyle/>
          <a:p>
            <a:endParaRPr lang="en-GB" sz="3200" b="0" strike="noStrike" spc="-1">
              <a:latin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59" name="PlaceHolder 1"/>
          <p:cNvSpPr>
            <a:spLocks noGrp="1"/>
          </p:cNvSpPr>
          <p:nvPr>
            <p:ph type="title"/>
          </p:nvPr>
        </p:nvSpPr>
        <p:spPr>
          <a:xfrm>
            <a:off x="1079640" y="225720"/>
            <a:ext cx="8494560" cy="946080"/>
          </a:xfrm>
          <a:prstGeom prst="rect">
            <a:avLst/>
          </a:prstGeom>
        </p:spPr>
        <p:txBody>
          <a:bodyPr lIns="0" tIns="0" rIns="0" bIns="0" anchor="ctr">
            <a:noAutofit/>
          </a:bodyPr>
          <a:lstStyle/>
          <a:p>
            <a:pPr algn="ctr"/>
            <a:endParaRPr lang="en-GB" sz="4400" b="0" strike="noStrike" spc="-1">
              <a:latin typeface="Arial"/>
            </a:endParaRPr>
          </a:p>
        </p:txBody>
      </p:sp>
      <p:sp>
        <p:nvSpPr>
          <p:cNvPr id="60" name="PlaceHolder 2"/>
          <p:cNvSpPr>
            <a:spLocks noGrp="1"/>
          </p:cNvSpPr>
          <p:nvPr>
            <p:ph type="body"/>
          </p:nvPr>
        </p:nvSpPr>
        <p:spPr>
          <a:xfrm>
            <a:off x="503640" y="1326240"/>
            <a:ext cx="4426200" cy="1839600"/>
          </a:xfrm>
          <a:prstGeom prst="rect">
            <a:avLst/>
          </a:prstGeom>
        </p:spPr>
        <p:txBody>
          <a:bodyPr lIns="0" tIns="0" rIns="0" bIns="0">
            <a:normAutofit/>
          </a:bodyPr>
          <a:lstStyle/>
          <a:p>
            <a:endParaRPr lang="en-GB" sz="3200" b="0" strike="noStrike" spc="-1">
              <a:latin typeface="Arial"/>
            </a:endParaRPr>
          </a:p>
        </p:txBody>
      </p:sp>
      <p:sp>
        <p:nvSpPr>
          <p:cNvPr id="61" name="PlaceHolder 3"/>
          <p:cNvSpPr>
            <a:spLocks noGrp="1"/>
          </p:cNvSpPr>
          <p:nvPr>
            <p:ph type="body"/>
          </p:nvPr>
        </p:nvSpPr>
        <p:spPr>
          <a:xfrm>
            <a:off x="5151600" y="1326240"/>
            <a:ext cx="4426200" cy="1839600"/>
          </a:xfrm>
          <a:prstGeom prst="rect">
            <a:avLst/>
          </a:prstGeom>
        </p:spPr>
        <p:txBody>
          <a:bodyPr lIns="0" tIns="0" rIns="0" bIns="0">
            <a:normAutofit/>
          </a:bodyPr>
          <a:lstStyle/>
          <a:p>
            <a:endParaRPr lang="en-GB" sz="3200" b="0" strike="noStrike" spc="-1">
              <a:latin typeface="Arial"/>
            </a:endParaRPr>
          </a:p>
        </p:txBody>
      </p:sp>
      <p:sp>
        <p:nvSpPr>
          <p:cNvPr id="62" name="PlaceHolder 4"/>
          <p:cNvSpPr>
            <a:spLocks noGrp="1"/>
          </p:cNvSpPr>
          <p:nvPr>
            <p:ph type="body"/>
          </p:nvPr>
        </p:nvSpPr>
        <p:spPr>
          <a:xfrm>
            <a:off x="503640" y="3341160"/>
            <a:ext cx="9070560" cy="1839600"/>
          </a:xfrm>
          <a:prstGeom prst="rect">
            <a:avLst/>
          </a:prstGeom>
        </p:spPr>
        <p:txBody>
          <a:bodyPr lIns="0" tIns="0" rIns="0" bIns="0">
            <a:normAutofit/>
          </a:bodyPr>
          <a:lstStyle/>
          <a:p>
            <a:endParaRPr lang="en-GB" sz="3200" b="0" strike="noStrike" spc="-1">
              <a:latin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63" name="PlaceHolder 1"/>
          <p:cNvSpPr>
            <a:spLocks noGrp="1"/>
          </p:cNvSpPr>
          <p:nvPr>
            <p:ph type="title"/>
          </p:nvPr>
        </p:nvSpPr>
        <p:spPr>
          <a:xfrm>
            <a:off x="1079640" y="225720"/>
            <a:ext cx="8494560" cy="946080"/>
          </a:xfrm>
          <a:prstGeom prst="rect">
            <a:avLst/>
          </a:prstGeom>
        </p:spPr>
        <p:txBody>
          <a:bodyPr lIns="0" tIns="0" rIns="0" bIns="0" anchor="ctr">
            <a:noAutofit/>
          </a:bodyPr>
          <a:lstStyle/>
          <a:p>
            <a:pPr algn="ctr"/>
            <a:endParaRPr lang="en-GB" sz="4400" b="0" strike="noStrike" spc="-1">
              <a:latin typeface="Arial"/>
            </a:endParaRPr>
          </a:p>
        </p:txBody>
      </p:sp>
      <p:sp>
        <p:nvSpPr>
          <p:cNvPr id="64" name="PlaceHolder 2"/>
          <p:cNvSpPr>
            <a:spLocks noGrp="1"/>
          </p:cNvSpPr>
          <p:nvPr>
            <p:ph type="body"/>
          </p:nvPr>
        </p:nvSpPr>
        <p:spPr>
          <a:xfrm>
            <a:off x="503640" y="1326240"/>
            <a:ext cx="9070560" cy="1839600"/>
          </a:xfrm>
          <a:prstGeom prst="rect">
            <a:avLst/>
          </a:prstGeom>
        </p:spPr>
        <p:txBody>
          <a:bodyPr lIns="0" tIns="0" rIns="0" bIns="0">
            <a:normAutofit/>
          </a:bodyPr>
          <a:lstStyle/>
          <a:p>
            <a:endParaRPr lang="en-GB" sz="3200" b="0" strike="noStrike" spc="-1">
              <a:latin typeface="Arial"/>
            </a:endParaRPr>
          </a:p>
        </p:txBody>
      </p:sp>
      <p:sp>
        <p:nvSpPr>
          <p:cNvPr id="65" name="PlaceHolder 3"/>
          <p:cNvSpPr>
            <a:spLocks noGrp="1"/>
          </p:cNvSpPr>
          <p:nvPr>
            <p:ph type="body"/>
          </p:nvPr>
        </p:nvSpPr>
        <p:spPr>
          <a:xfrm>
            <a:off x="503640" y="3341160"/>
            <a:ext cx="9070560" cy="1839600"/>
          </a:xfrm>
          <a:prstGeom prst="rect">
            <a:avLst/>
          </a:prstGeom>
        </p:spPr>
        <p:txBody>
          <a:bodyPr lIns="0" tIns="0" rIns="0" bIns="0">
            <a:normAutofit/>
          </a:bodyPr>
          <a:lstStyle/>
          <a:p>
            <a:endParaRPr lang="en-GB" sz="3200" b="0" strike="noStrike" spc="-1">
              <a:latin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66" name="PlaceHolder 1"/>
          <p:cNvSpPr>
            <a:spLocks noGrp="1"/>
          </p:cNvSpPr>
          <p:nvPr>
            <p:ph type="title"/>
          </p:nvPr>
        </p:nvSpPr>
        <p:spPr>
          <a:xfrm>
            <a:off x="1079640" y="225720"/>
            <a:ext cx="8494560" cy="946080"/>
          </a:xfrm>
          <a:prstGeom prst="rect">
            <a:avLst/>
          </a:prstGeom>
        </p:spPr>
        <p:txBody>
          <a:bodyPr lIns="0" tIns="0" rIns="0" bIns="0" anchor="ctr">
            <a:noAutofit/>
          </a:bodyPr>
          <a:lstStyle/>
          <a:p>
            <a:pPr algn="ctr"/>
            <a:endParaRPr lang="en-GB" sz="4400" b="0" strike="noStrike" spc="-1">
              <a:latin typeface="Arial"/>
            </a:endParaRPr>
          </a:p>
        </p:txBody>
      </p:sp>
      <p:sp>
        <p:nvSpPr>
          <p:cNvPr id="67" name="PlaceHolder 2"/>
          <p:cNvSpPr>
            <a:spLocks noGrp="1"/>
          </p:cNvSpPr>
          <p:nvPr>
            <p:ph type="body"/>
          </p:nvPr>
        </p:nvSpPr>
        <p:spPr>
          <a:xfrm>
            <a:off x="503640" y="1326240"/>
            <a:ext cx="4426200" cy="1839600"/>
          </a:xfrm>
          <a:prstGeom prst="rect">
            <a:avLst/>
          </a:prstGeom>
        </p:spPr>
        <p:txBody>
          <a:bodyPr lIns="0" tIns="0" rIns="0" bIns="0">
            <a:normAutofit/>
          </a:bodyPr>
          <a:lstStyle/>
          <a:p>
            <a:endParaRPr lang="en-GB" sz="3200" b="0" strike="noStrike" spc="-1">
              <a:latin typeface="Arial"/>
            </a:endParaRPr>
          </a:p>
        </p:txBody>
      </p:sp>
      <p:sp>
        <p:nvSpPr>
          <p:cNvPr id="68" name="PlaceHolder 3"/>
          <p:cNvSpPr>
            <a:spLocks noGrp="1"/>
          </p:cNvSpPr>
          <p:nvPr>
            <p:ph type="body"/>
          </p:nvPr>
        </p:nvSpPr>
        <p:spPr>
          <a:xfrm>
            <a:off x="5151600" y="1326240"/>
            <a:ext cx="4426200" cy="1839600"/>
          </a:xfrm>
          <a:prstGeom prst="rect">
            <a:avLst/>
          </a:prstGeom>
        </p:spPr>
        <p:txBody>
          <a:bodyPr lIns="0" tIns="0" rIns="0" bIns="0">
            <a:normAutofit/>
          </a:bodyPr>
          <a:lstStyle/>
          <a:p>
            <a:endParaRPr lang="en-GB" sz="3200" b="0" strike="noStrike" spc="-1">
              <a:latin typeface="Arial"/>
            </a:endParaRPr>
          </a:p>
        </p:txBody>
      </p:sp>
      <p:sp>
        <p:nvSpPr>
          <p:cNvPr id="69" name="PlaceHolder 4"/>
          <p:cNvSpPr>
            <a:spLocks noGrp="1"/>
          </p:cNvSpPr>
          <p:nvPr>
            <p:ph type="body"/>
          </p:nvPr>
        </p:nvSpPr>
        <p:spPr>
          <a:xfrm>
            <a:off x="503640" y="3341160"/>
            <a:ext cx="4426200" cy="1839600"/>
          </a:xfrm>
          <a:prstGeom prst="rect">
            <a:avLst/>
          </a:prstGeom>
        </p:spPr>
        <p:txBody>
          <a:bodyPr lIns="0" tIns="0" rIns="0" bIns="0">
            <a:normAutofit/>
          </a:bodyPr>
          <a:lstStyle/>
          <a:p>
            <a:endParaRPr lang="en-GB" sz="3200" b="0" strike="noStrike" spc="-1">
              <a:latin typeface="Arial"/>
            </a:endParaRPr>
          </a:p>
        </p:txBody>
      </p:sp>
      <p:sp>
        <p:nvSpPr>
          <p:cNvPr id="70" name="PlaceHolder 5"/>
          <p:cNvSpPr>
            <a:spLocks noGrp="1"/>
          </p:cNvSpPr>
          <p:nvPr>
            <p:ph type="body"/>
          </p:nvPr>
        </p:nvSpPr>
        <p:spPr>
          <a:xfrm>
            <a:off x="5151600" y="3341160"/>
            <a:ext cx="4426200" cy="1839600"/>
          </a:xfrm>
          <a:prstGeom prst="rect">
            <a:avLst/>
          </a:prstGeom>
        </p:spPr>
        <p:txBody>
          <a:bodyPr lIns="0" tIns="0" rIns="0" bIns="0">
            <a:normAutofit/>
          </a:bodyPr>
          <a:lstStyle/>
          <a:p>
            <a:endParaRPr lang="en-GB" sz="3200" b="0" strike="noStrike" spc="-1">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71" name="PlaceHolder 1"/>
          <p:cNvSpPr>
            <a:spLocks noGrp="1"/>
          </p:cNvSpPr>
          <p:nvPr>
            <p:ph type="title"/>
          </p:nvPr>
        </p:nvSpPr>
        <p:spPr>
          <a:xfrm>
            <a:off x="1079640" y="225720"/>
            <a:ext cx="8494560" cy="946080"/>
          </a:xfrm>
          <a:prstGeom prst="rect">
            <a:avLst/>
          </a:prstGeom>
        </p:spPr>
        <p:txBody>
          <a:bodyPr lIns="0" tIns="0" rIns="0" bIns="0" anchor="ctr">
            <a:noAutofit/>
          </a:bodyPr>
          <a:lstStyle/>
          <a:p>
            <a:pPr algn="ctr"/>
            <a:endParaRPr lang="en-GB" sz="4400" b="0" strike="noStrike" spc="-1">
              <a:latin typeface="Arial"/>
            </a:endParaRPr>
          </a:p>
        </p:txBody>
      </p:sp>
      <p:sp>
        <p:nvSpPr>
          <p:cNvPr id="72" name="PlaceHolder 2"/>
          <p:cNvSpPr>
            <a:spLocks noGrp="1"/>
          </p:cNvSpPr>
          <p:nvPr>
            <p:ph type="body"/>
          </p:nvPr>
        </p:nvSpPr>
        <p:spPr>
          <a:xfrm>
            <a:off x="503640" y="1326240"/>
            <a:ext cx="2920320" cy="1839600"/>
          </a:xfrm>
          <a:prstGeom prst="rect">
            <a:avLst/>
          </a:prstGeom>
        </p:spPr>
        <p:txBody>
          <a:bodyPr lIns="0" tIns="0" rIns="0" bIns="0">
            <a:normAutofit/>
          </a:bodyPr>
          <a:lstStyle/>
          <a:p>
            <a:endParaRPr lang="en-GB" sz="3200" b="0" strike="noStrike" spc="-1">
              <a:latin typeface="Arial"/>
            </a:endParaRPr>
          </a:p>
        </p:txBody>
      </p:sp>
      <p:sp>
        <p:nvSpPr>
          <p:cNvPr id="73" name="PlaceHolder 3"/>
          <p:cNvSpPr>
            <a:spLocks noGrp="1"/>
          </p:cNvSpPr>
          <p:nvPr>
            <p:ph type="body"/>
          </p:nvPr>
        </p:nvSpPr>
        <p:spPr>
          <a:xfrm>
            <a:off x="3570480" y="1326240"/>
            <a:ext cx="2920320" cy="1839600"/>
          </a:xfrm>
          <a:prstGeom prst="rect">
            <a:avLst/>
          </a:prstGeom>
        </p:spPr>
        <p:txBody>
          <a:bodyPr lIns="0" tIns="0" rIns="0" bIns="0">
            <a:normAutofit/>
          </a:bodyPr>
          <a:lstStyle/>
          <a:p>
            <a:endParaRPr lang="en-GB" sz="3200" b="0" strike="noStrike" spc="-1">
              <a:latin typeface="Arial"/>
            </a:endParaRPr>
          </a:p>
        </p:txBody>
      </p:sp>
      <p:sp>
        <p:nvSpPr>
          <p:cNvPr id="74" name="PlaceHolder 4"/>
          <p:cNvSpPr>
            <a:spLocks noGrp="1"/>
          </p:cNvSpPr>
          <p:nvPr>
            <p:ph type="body"/>
          </p:nvPr>
        </p:nvSpPr>
        <p:spPr>
          <a:xfrm>
            <a:off x="6636960" y="1326240"/>
            <a:ext cx="2920320" cy="1839600"/>
          </a:xfrm>
          <a:prstGeom prst="rect">
            <a:avLst/>
          </a:prstGeom>
        </p:spPr>
        <p:txBody>
          <a:bodyPr lIns="0" tIns="0" rIns="0" bIns="0">
            <a:normAutofit/>
          </a:bodyPr>
          <a:lstStyle/>
          <a:p>
            <a:endParaRPr lang="en-GB" sz="3200" b="0" strike="noStrike" spc="-1">
              <a:latin typeface="Arial"/>
            </a:endParaRPr>
          </a:p>
        </p:txBody>
      </p:sp>
      <p:sp>
        <p:nvSpPr>
          <p:cNvPr id="75" name="PlaceHolder 5"/>
          <p:cNvSpPr>
            <a:spLocks noGrp="1"/>
          </p:cNvSpPr>
          <p:nvPr>
            <p:ph type="body"/>
          </p:nvPr>
        </p:nvSpPr>
        <p:spPr>
          <a:xfrm>
            <a:off x="503640" y="3341160"/>
            <a:ext cx="2920320" cy="1839600"/>
          </a:xfrm>
          <a:prstGeom prst="rect">
            <a:avLst/>
          </a:prstGeom>
        </p:spPr>
        <p:txBody>
          <a:bodyPr lIns="0" tIns="0" rIns="0" bIns="0">
            <a:normAutofit/>
          </a:bodyPr>
          <a:lstStyle/>
          <a:p>
            <a:endParaRPr lang="en-GB" sz="3200" b="0" strike="noStrike" spc="-1">
              <a:latin typeface="Arial"/>
            </a:endParaRPr>
          </a:p>
        </p:txBody>
      </p:sp>
      <p:sp>
        <p:nvSpPr>
          <p:cNvPr id="76" name="PlaceHolder 6"/>
          <p:cNvSpPr>
            <a:spLocks noGrp="1"/>
          </p:cNvSpPr>
          <p:nvPr>
            <p:ph type="body"/>
          </p:nvPr>
        </p:nvSpPr>
        <p:spPr>
          <a:xfrm>
            <a:off x="3570480" y="3341160"/>
            <a:ext cx="2920320" cy="1839600"/>
          </a:xfrm>
          <a:prstGeom prst="rect">
            <a:avLst/>
          </a:prstGeom>
        </p:spPr>
        <p:txBody>
          <a:bodyPr lIns="0" tIns="0" rIns="0" bIns="0">
            <a:normAutofit/>
          </a:bodyPr>
          <a:lstStyle/>
          <a:p>
            <a:endParaRPr lang="en-GB" sz="3200" b="0" strike="noStrike" spc="-1">
              <a:latin typeface="Arial"/>
            </a:endParaRPr>
          </a:p>
        </p:txBody>
      </p:sp>
      <p:sp>
        <p:nvSpPr>
          <p:cNvPr id="77" name="PlaceHolder 7"/>
          <p:cNvSpPr>
            <a:spLocks noGrp="1"/>
          </p:cNvSpPr>
          <p:nvPr>
            <p:ph type="body"/>
          </p:nvPr>
        </p:nvSpPr>
        <p:spPr>
          <a:xfrm>
            <a:off x="6636960" y="3341160"/>
            <a:ext cx="2920320" cy="1839600"/>
          </a:xfrm>
          <a:prstGeom prst="rect">
            <a:avLst/>
          </a:prstGeom>
        </p:spPr>
        <p:txBody>
          <a:bodyPr lIns="0" tIns="0" rIns="0" bIns="0">
            <a:normAutofit/>
          </a:bodyPr>
          <a:lstStyle/>
          <a:p>
            <a:endParaRPr lang="en-GB" sz="3200" b="0" strike="noStrike" spc="-1">
              <a:latin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82" name="PlaceHolder 1"/>
          <p:cNvSpPr>
            <a:spLocks noGrp="1"/>
          </p:cNvSpPr>
          <p:nvPr>
            <p:ph type="title"/>
          </p:nvPr>
        </p:nvSpPr>
        <p:spPr>
          <a:xfrm>
            <a:off x="1079640" y="225720"/>
            <a:ext cx="8494560" cy="946080"/>
          </a:xfrm>
          <a:prstGeom prst="rect">
            <a:avLst/>
          </a:prstGeom>
        </p:spPr>
        <p:txBody>
          <a:bodyPr lIns="0" tIns="0" rIns="0" bIns="0" anchor="ctr">
            <a:noAutofit/>
          </a:bodyPr>
          <a:lstStyle/>
          <a:p>
            <a:pPr algn="ctr"/>
            <a:endParaRPr lang="en-GB" sz="4400" b="0" strike="noStrike" spc="-1">
              <a:latin typeface="Arial"/>
            </a:endParaRPr>
          </a:p>
        </p:txBody>
      </p:sp>
      <p:sp>
        <p:nvSpPr>
          <p:cNvPr id="83" name="PlaceHolder 2"/>
          <p:cNvSpPr>
            <a:spLocks noGrp="1"/>
          </p:cNvSpPr>
          <p:nvPr>
            <p:ph type="subTitle"/>
          </p:nvPr>
        </p:nvSpPr>
        <p:spPr>
          <a:xfrm>
            <a:off x="503640" y="1326240"/>
            <a:ext cx="9070560" cy="3856680"/>
          </a:xfrm>
          <a:prstGeom prst="rect">
            <a:avLst/>
          </a:prstGeom>
        </p:spPr>
        <p:txBody>
          <a:bodyPr lIns="0" tIns="0" rIns="0" bIns="0" anchor="ctr">
            <a:noAutofit/>
          </a:bodyPr>
          <a:lstStyle/>
          <a:p>
            <a:pPr algn="ctr"/>
            <a:endParaRPr lang="en-GB" sz="3200" b="0" strike="noStrike" spc="-1">
              <a:latin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84" name="PlaceHolder 1"/>
          <p:cNvSpPr>
            <a:spLocks noGrp="1"/>
          </p:cNvSpPr>
          <p:nvPr>
            <p:ph type="title"/>
          </p:nvPr>
        </p:nvSpPr>
        <p:spPr>
          <a:xfrm>
            <a:off x="1079640" y="225720"/>
            <a:ext cx="8494560" cy="946080"/>
          </a:xfrm>
          <a:prstGeom prst="rect">
            <a:avLst/>
          </a:prstGeom>
        </p:spPr>
        <p:txBody>
          <a:bodyPr lIns="0" tIns="0" rIns="0" bIns="0" anchor="ctr">
            <a:noAutofit/>
          </a:bodyPr>
          <a:lstStyle/>
          <a:p>
            <a:pPr algn="ctr"/>
            <a:endParaRPr lang="en-GB" sz="4400" b="0" strike="noStrike" spc="-1">
              <a:latin typeface="Arial"/>
            </a:endParaRPr>
          </a:p>
        </p:txBody>
      </p:sp>
      <p:sp>
        <p:nvSpPr>
          <p:cNvPr id="85" name="PlaceHolder 2"/>
          <p:cNvSpPr>
            <a:spLocks noGrp="1"/>
          </p:cNvSpPr>
          <p:nvPr>
            <p:ph type="body"/>
          </p:nvPr>
        </p:nvSpPr>
        <p:spPr>
          <a:xfrm>
            <a:off x="503640" y="1326240"/>
            <a:ext cx="9070560" cy="3856680"/>
          </a:xfrm>
          <a:prstGeom prst="rect">
            <a:avLst/>
          </a:prstGeom>
        </p:spPr>
        <p:txBody>
          <a:bodyPr lIns="0" tIns="0" rIns="0" bIns="0">
            <a:normAutofit/>
          </a:bodyPr>
          <a:lstStyle/>
          <a:p>
            <a:endParaRPr lang="en-GB" sz="3200" b="0" strike="noStrike" spc="-1">
              <a:latin typeface="Aria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86" name="PlaceHolder 1"/>
          <p:cNvSpPr>
            <a:spLocks noGrp="1"/>
          </p:cNvSpPr>
          <p:nvPr>
            <p:ph type="title"/>
          </p:nvPr>
        </p:nvSpPr>
        <p:spPr>
          <a:xfrm>
            <a:off x="1079640" y="225720"/>
            <a:ext cx="8494560" cy="946080"/>
          </a:xfrm>
          <a:prstGeom prst="rect">
            <a:avLst/>
          </a:prstGeom>
        </p:spPr>
        <p:txBody>
          <a:bodyPr lIns="0" tIns="0" rIns="0" bIns="0" anchor="ctr">
            <a:noAutofit/>
          </a:bodyPr>
          <a:lstStyle/>
          <a:p>
            <a:pPr algn="ctr"/>
            <a:endParaRPr lang="en-GB" sz="4400" b="0" strike="noStrike" spc="-1">
              <a:latin typeface="Arial"/>
            </a:endParaRPr>
          </a:p>
        </p:txBody>
      </p:sp>
      <p:sp>
        <p:nvSpPr>
          <p:cNvPr id="87" name="PlaceHolder 2"/>
          <p:cNvSpPr>
            <a:spLocks noGrp="1"/>
          </p:cNvSpPr>
          <p:nvPr>
            <p:ph type="body"/>
          </p:nvPr>
        </p:nvSpPr>
        <p:spPr>
          <a:xfrm>
            <a:off x="503640" y="1326240"/>
            <a:ext cx="4426200" cy="3856680"/>
          </a:xfrm>
          <a:prstGeom prst="rect">
            <a:avLst/>
          </a:prstGeom>
        </p:spPr>
        <p:txBody>
          <a:bodyPr lIns="0" tIns="0" rIns="0" bIns="0">
            <a:normAutofit/>
          </a:bodyPr>
          <a:lstStyle/>
          <a:p>
            <a:endParaRPr lang="en-GB" sz="3200" b="0" strike="noStrike" spc="-1">
              <a:latin typeface="Arial"/>
            </a:endParaRPr>
          </a:p>
        </p:txBody>
      </p:sp>
      <p:sp>
        <p:nvSpPr>
          <p:cNvPr id="88" name="PlaceHolder 3"/>
          <p:cNvSpPr>
            <a:spLocks noGrp="1"/>
          </p:cNvSpPr>
          <p:nvPr>
            <p:ph type="body"/>
          </p:nvPr>
        </p:nvSpPr>
        <p:spPr>
          <a:xfrm>
            <a:off x="5151600" y="1326240"/>
            <a:ext cx="4426200" cy="3856680"/>
          </a:xfrm>
          <a:prstGeom prst="rect">
            <a:avLst/>
          </a:prstGeom>
        </p:spPr>
        <p:txBody>
          <a:bodyPr lIns="0" tIns="0" rIns="0" bIns="0">
            <a:normAutofit/>
          </a:bodyPr>
          <a:lstStyle/>
          <a:p>
            <a:endParaRPr lang="en-GB" sz="3200" b="0" strike="noStrike" spc="-1">
              <a:latin typeface="Aria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9" name="PlaceHolder 1"/>
          <p:cNvSpPr>
            <a:spLocks noGrp="1"/>
          </p:cNvSpPr>
          <p:nvPr>
            <p:ph type="title"/>
          </p:nvPr>
        </p:nvSpPr>
        <p:spPr>
          <a:xfrm>
            <a:off x="1079640" y="225720"/>
            <a:ext cx="8494560" cy="946080"/>
          </a:xfrm>
          <a:prstGeom prst="rect">
            <a:avLst/>
          </a:prstGeom>
        </p:spPr>
        <p:txBody>
          <a:bodyPr lIns="0" tIns="0" rIns="0" bIns="0" anchor="ctr">
            <a:noAutofit/>
          </a:bodyPr>
          <a:lstStyle/>
          <a:p>
            <a:pPr algn="ctr"/>
            <a:endParaRPr lang="en-GB" sz="4400" b="0" strike="noStrike" spc="-1">
              <a:latin typeface="Aria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90" name="PlaceHolder 1"/>
          <p:cNvSpPr>
            <a:spLocks noGrp="1"/>
          </p:cNvSpPr>
          <p:nvPr>
            <p:ph type="subTitle"/>
          </p:nvPr>
        </p:nvSpPr>
        <p:spPr>
          <a:xfrm>
            <a:off x="1079640" y="225720"/>
            <a:ext cx="8494560" cy="4386600"/>
          </a:xfrm>
          <a:prstGeom prst="rect">
            <a:avLst/>
          </a:prstGeom>
        </p:spPr>
        <p:txBody>
          <a:bodyPr lIns="0" tIns="0" rIns="0" bIns="0" anchor="ctr">
            <a:noAutofit/>
          </a:bodyPr>
          <a:lstStyle/>
          <a:p>
            <a:pPr algn="ctr"/>
            <a:endParaRPr lang="en-GB" sz="3200" b="0" strike="noStrike" spc="-1">
              <a:latin typeface="Aria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91" name="PlaceHolder 1"/>
          <p:cNvSpPr>
            <a:spLocks noGrp="1"/>
          </p:cNvSpPr>
          <p:nvPr>
            <p:ph type="title"/>
          </p:nvPr>
        </p:nvSpPr>
        <p:spPr>
          <a:xfrm>
            <a:off x="1079640" y="225720"/>
            <a:ext cx="8494560" cy="946080"/>
          </a:xfrm>
          <a:prstGeom prst="rect">
            <a:avLst/>
          </a:prstGeom>
        </p:spPr>
        <p:txBody>
          <a:bodyPr lIns="0" tIns="0" rIns="0" bIns="0" anchor="ctr">
            <a:noAutofit/>
          </a:bodyPr>
          <a:lstStyle/>
          <a:p>
            <a:pPr algn="ctr"/>
            <a:endParaRPr lang="en-GB" sz="4400" b="0" strike="noStrike" spc="-1">
              <a:latin typeface="Arial"/>
            </a:endParaRPr>
          </a:p>
        </p:txBody>
      </p:sp>
      <p:sp>
        <p:nvSpPr>
          <p:cNvPr id="92" name="PlaceHolder 2"/>
          <p:cNvSpPr>
            <a:spLocks noGrp="1"/>
          </p:cNvSpPr>
          <p:nvPr>
            <p:ph type="body"/>
          </p:nvPr>
        </p:nvSpPr>
        <p:spPr>
          <a:xfrm>
            <a:off x="503640" y="1326240"/>
            <a:ext cx="4426200" cy="1839600"/>
          </a:xfrm>
          <a:prstGeom prst="rect">
            <a:avLst/>
          </a:prstGeom>
        </p:spPr>
        <p:txBody>
          <a:bodyPr lIns="0" tIns="0" rIns="0" bIns="0">
            <a:normAutofit/>
          </a:bodyPr>
          <a:lstStyle/>
          <a:p>
            <a:endParaRPr lang="en-GB" sz="3200" b="0" strike="noStrike" spc="-1">
              <a:latin typeface="Arial"/>
            </a:endParaRPr>
          </a:p>
        </p:txBody>
      </p:sp>
      <p:sp>
        <p:nvSpPr>
          <p:cNvPr id="93" name="PlaceHolder 3"/>
          <p:cNvSpPr>
            <a:spLocks noGrp="1"/>
          </p:cNvSpPr>
          <p:nvPr>
            <p:ph type="body"/>
          </p:nvPr>
        </p:nvSpPr>
        <p:spPr>
          <a:xfrm>
            <a:off x="5151600" y="1326240"/>
            <a:ext cx="4426200" cy="3856680"/>
          </a:xfrm>
          <a:prstGeom prst="rect">
            <a:avLst/>
          </a:prstGeom>
        </p:spPr>
        <p:txBody>
          <a:bodyPr lIns="0" tIns="0" rIns="0" bIns="0">
            <a:normAutofit/>
          </a:bodyPr>
          <a:lstStyle/>
          <a:p>
            <a:endParaRPr lang="en-GB" sz="3200" b="0" strike="noStrike" spc="-1">
              <a:latin typeface="Arial"/>
            </a:endParaRPr>
          </a:p>
        </p:txBody>
      </p:sp>
      <p:sp>
        <p:nvSpPr>
          <p:cNvPr id="94" name="PlaceHolder 4"/>
          <p:cNvSpPr>
            <a:spLocks noGrp="1"/>
          </p:cNvSpPr>
          <p:nvPr>
            <p:ph type="body"/>
          </p:nvPr>
        </p:nvSpPr>
        <p:spPr>
          <a:xfrm>
            <a:off x="503640" y="3341160"/>
            <a:ext cx="4426200" cy="1839600"/>
          </a:xfrm>
          <a:prstGeom prst="rect">
            <a:avLst/>
          </a:prstGeom>
        </p:spPr>
        <p:txBody>
          <a:bodyPr lIns="0" tIns="0" rIns="0" bIns="0">
            <a:normAutofit/>
          </a:bodyPr>
          <a:lstStyle/>
          <a:p>
            <a:endParaRPr lang="en-GB" sz="3200" b="0" strike="noStrike" spc="-1">
              <a:latin typeface="Aria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95" name="PlaceHolder 1"/>
          <p:cNvSpPr>
            <a:spLocks noGrp="1"/>
          </p:cNvSpPr>
          <p:nvPr>
            <p:ph type="title"/>
          </p:nvPr>
        </p:nvSpPr>
        <p:spPr>
          <a:xfrm>
            <a:off x="1079640" y="225720"/>
            <a:ext cx="8494560" cy="946080"/>
          </a:xfrm>
          <a:prstGeom prst="rect">
            <a:avLst/>
          </a:prstGeom>
        </p:spPr>
        <p:txBody>
          <a:bodyPr lIns="0" tIns="0" rIns="0" bIns="0" anchor="ctr">
            <a:noAutofit/>
          </a:bodyPr>
          <a:lstStyle/>
          <a:p>
            <a:pPr algn="ctr"/>
            <a:endParaRPr lang="en-GB" sz="4400" b="0" strike="noStrike" spc="-1">
              <a:latin typeface="Arial"/>
            </a:endParaRPr>
          </a:p>
        </p:txBody>
      </p:sp>
      <p:sp>
        <p:nvSpPr>
          <p:cNvPr id="96" name="PlaceHolder 2"/>
          <p:cNvSpPr>
            <a:spLocks noGrp="1"/>
          </p:cNvSpPr>
          <p:nvPr>
            <p:ph type="body"/>
          </p:nvPr>
        </p:nvSpPr>
        <p:spPr>
          <a:xfrm>
            <a:off x="503640" y="1326240"/>
            <a:ext cx="4426200" cy="3856680"/>
          </a:xfrm>
          <a:prstGeom prst="rect">
            <a:avLst/>
          </a:prstGeom>
        </p:spPr>
        <p:txBody>
          <a:bodyPr lIns="0" tIns="0" rIns="0" bIns="0">
            <a:normAutofit/>
          </a:bodyPr>
          <a:lstStyle/>
          <a:p>
            <a:endParaRPr lang="en-GB" sz="3200" b="0" strike="noStrike" spc="-1">
              <a:latin typeface="Arial"/>
            </a:endParaRPr>
          </a:p>
        </p:txBody>
      </p:sp>
      <p:sp>
        <p:nvSpPr>
          <p:cNvPr id="97" name="PlaceHolder 3"/>
          <p:cNvSpPr>
            <a:spLocks noGrp="1"/>
          </p:cNvSpPr>
          <p:nvPr>
            <p:ph type="body"/>
          </p:nvPr>
        </p:nvSpPr>
        <p:spPr>
          <a:xfrm>
            <a:off x="5151600" y="1326240"/>
            <a:ext cx="4426200" cy="1839600"/>
          </a:xfrm>
          <a:prstGeom prst="rect">
            <a:avLst/>
          </a:prstGeom>
        </p:spPr>
        <p:txBody>
          <a:bodyPr lIns="0" tIns="0" rIns="0" bIns="0">
            <a:normAutofit/>
          </a:bodyPr>
          <a:lstStyle/>
          <a:p>
            <a:endParaRPr lang="en-GB" sz="3200" b="0" strike="noStrike" spc="-1">
              <a:latin typeface="Arial"/>
            </a:endParaRPr>
          </a:p>
        </p:txBody>
      </p:sp>
      <p:sp>
        <p:nvSpPr>
          <p:cNvPr id="98" name="PlaceHolder 4"/>
          <p:cNvSpPr>
            <a:spLocks noGrp="1"/>
          </p:cNvSpPr>
          <p:nvPr>
            <p:ph type="body"/>
          </p:nvPr>
        </p:nvSpPr>
        <p:spPr>
          <a:xfrm>
            <a:off x="5151600" y="3341160"/>
            <a:ext cx="4426200" cy="1839600"/>
          </a:xfrm>
          <a:prstGeom prst="rect">
            <a:avLst/>
          </a:prstGeom>
        </p:spPr>
        <p:txBody>
          <a:bodyPr lIns="0" tIns="0" rIns="0" bIns="0">
            <a:normAutofit/>
          </a:bodyPr>
          <a:lstStyle/>
          <a:p>
            <a:endParaRPr lang="en-GB" sz="3200" b="0" strike="noStrike" spc="-1">
              <a:latin typeface="Aria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99" name="PlaceHolder 1"/>
          <p:cNvSpPr>
            <a:spLocks noGrp="1"/>
          </p:cNvSpPr>
          <p:nvPr>
            <p:ph type="title"/>
          </p:nvPr>
        </p:nvSpPr>
        <p:spPr>
          <a:xfrm>
            <a:off x="1079640" y="225720"/>
            <a:ext cx="8494560" cy="946080"/>
          </a:xfrm>
          <a:prstGeom prst="rect">
            <a:avLst/>
          </a:prstGeom>
        </p:spPr>
        <p:txBody>
          <a:bodyPr lIns="0" tIns="0" rIns="0" bIns="0" anchor="ctr">
            <a:noAutofit/>
          </a:bodyPr>
          <a:lstStyle/>
          <a:p>
            <a:pPr algn="ctr"/>
            <a:endParaRPr lang="en-GB" sz="4400" b="0" strike="noStrike" spc="-1">
              <a:latin typeface="Arial"/>
            </a:endParaRPr>
          </a:p>
        </p:txBody>
      </p:sp>
      <p:sp>
        <p:nvSpPr>
          <p:cNvPr id="100" name="PlaceHolder 2"/>
          <p:cNvSpPr>
            <a:spLocks noGrp="1"/>
          </p:cNvSpPr>
          <p:nvPr>
            <p:ph type="body"/>
          </p:nvPr>
        </p:nvSpPr>
        <p:spPr>
          <a:xfrm>
            <a:off x="503640" y="1326240"/>
            <a:ext cx="4426200" cy="1839600"/>
          </a:xfrm>
          <a:prstGeom prst="rect">
            <a:avLst/>
          </a:prstGeom>
        </p:spPr>
        <p:txBody>
          <a:bodyPr lIns="0" tIns="0" rIns="0" bIns="0">
            <a:normAutofit/>
          </a:bodyPr>
          <a:lstStyle/>
          <a:p>
            <a:endParaRPr lang="en-GB" sz="3200" b="0" strike="noStrike" spc="-1">
              <a:latin typeface="Arial"/>
            </a:endParaRPr>
          </a:p>
        </p:txBody>
      </p:sp>
      <p:sp>
        <p:nvSpPr>
          <p:cNvPr id="101" name="PlaceHolder 3"/>
          <p:cNvSpPr>
            <a:spLocks noGrp="1"/>
          </p:cNvSpPr>
          <p:nvPr>
            <p:ph type="body"/>
          </p:nvPr>
        </p:nvSpPr>
        <p:spPr>
          <a:xfrm>
            <a:off x="5151600" y="1326240"/>
            <a:ext cx="4426200" cy="1839600"/>
          </a:xfrm>
          <a:prstGeom prst="rect">
            <a:avLst/>
          </a:prstGeom>
        </p:spPr>
        <p:txBody>
          <a:bodyPr lIns="0" tIns="0" rIns="0" bIns="0">
            <a:normAutofit/>
          </a:bodyPr>
          <a:lstStyle/>
          <a:p>
            <a:endParaRPr lang="en-GB" sz="3200" b="0" strike="noStrike" spc="-1">
              <a:latin typeface="Arial"/>
            </a:endParaRPr>
          </a:p>
        </p:txBody>
      </p:sp>
      <p:sp>
        <p:nvSpPr>
          <p:cNvPr id="102" name="PlaceHolder 4"/>
          <p:cNvSpPr>
            <a:spLocks noGrp="1"/>
          </p:cNvSpPr>
          <p:nvPr>
            <p:ph type="body"/>
          </p:nvPr>
        </p:nvSpPr>
        <p:spPr>
          <a:xfrm>
            <a:off x="503640" y="3341160"/>
            <a:ext cx="9070560" cy="1839600"/>
          </a:xfrm>
          <a:prstGeom prst="rect">
            <a:avLst/>
          </a:prstGeom>
        </p:spPr>
        <p:txBody>
          <a:bodyPr lIns="0" tIns="0" rIns="0" bIns="0">
            <a:normAutofit/>
          </a:bodyPr>
          <a:lstStyle/>
          <a:p>
            <a:endParaRPr lang="en-GB" sz="3200" b="0" strike="noStrike" spc="-1">
              <a:latin typeface="Aria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103" name="PlaceHolder 1"/>
          <p:cNvSpPr>
            <a:spLocks noGrp="1"/>
          </p:cNvSpPr>
          <p:nvPr>
            <p:ph type="title"/>
          </p:nvPr>
        </p:nvSpPr>
        <p:spPr>
          <a:xfrm>
            <a:off x="1079640" y="225720"/>
            <a:ext cx="8494560" cy="946080"/>
          </a:xfrm>
          <a:prstGeom prst="rect">
            <a:avLst/>
          </a:prstGeom>
        </p:spPr>
        <p:txBody>
          <a:bodyPr lIns="0" tIns="0" rIns="0" bIns="0" anchor="ctr">
            <a:noAutofit/>
          </a:bodyPr>
          <a:lstStyle/>
          <a:p>
            <a:pPr algn="ctr"/>
            <a:endParaRPr lang="en-GB" sz="4400" b="0" strike="noStrike" spc="-1">
              <a:latin typeface="Arial"/>
            </a:endParaRPr>
          </a:p>
        </p:txBody>
      </p:sp>
      <p:sp>
        <p:nvSpPr>
          <p:cNvPr id="104" name="PlaceHolder 2"/>
          <p:cNvSpPr>
            <a:spLocks noGrp="1"/>
          </p:cNvSpPr>
          <p:nvPr>
            <p:ph type="body"/>
          </p:nvPr>
        </p:nvSpPr>
        <p:spPr>
          <a:xfrm>
            <a:off x="503640" y="1326240"/>
            <a:ext cx="9070560" cy="1839600"/>
          </a:xfrm>
          <a:prstGeom prst="rect">
            <a:avLst/>
          </a:prstGeom>
        </p:spPr>
        <p:txBody>
          <a:bodyPr lIns="0" tIns="0" rIns="0" bIns="0">
            <a:normAutofit/>
          </a:bodyPr>
          <a:lstStyle/>
          <a:p>
            <a:endParaRPr lang="en-GB" sz="3200" b="0" strike="noStrike" spc="-1">
              <a:latin typeface="Arial"/>
            </a:endParaRPr>
          </a:p>
        </p:txBody>
      </p:sp>
      <p:sp>
        <p:nvSpPr>
          <p:cNvPr id="105" name="PlaceHolder 3"/>
          <p:cNvSpPr>
            <a:spLocks noGrp="1"/>
          </p:cNvSpPr>
          <p:nvPr>
            <p:ph type="body"/>
          </p:nvPr>
        </p:nvSpPr>
        <p:spPr>
          <a:xfrm>
            <a:off x="503640" y="3341160"/>
            <a:ext cx="9070560" cy="1839600"/>
          </a:xfrm>
          <a:prstGeom prst="rect">
            <a:avLst/>
          </a:prstGeom>
        </p:spPr>
        <p:txBody>
          <a:bodyPr lIns="0" tIns="0" rIns="0" bIns="0">
            <a:normAutofit/>
          </a:bodyPr>
          <a:lstStyle/>
          <a:p>
            <a:endParaRPr lang="en-GB" sz="3200" b="0" strike="noStrike" spc="-1">
              <a:latin typeface="Aria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106" name="PlaceHolder 1"/>
          <p:cNvSpPr>
            <a:spLocks noGrp="1"/>
          </p:cNvSpPr>
          <p:nvPr>
            <p:ph type="title"/>
          </p:nvPr>
        </p:nvSpPr>
        <p:spPr>
          <a:xfrm>
            <a:off x="1079640" y="225720"/>
            <a:ext cx="8494560" cy="946080"/>
          </a:xfrm>
          <a:prstGeom prst="rect">
            <a:avLst/>
          </a:prstGeom>
        </p:spPr>
        <p:txBody>
          <a:bodyPr lIns="0" tIns="0" rIns="0" bIns="0" anchor="ctr">
            <a:noAutofit/>
          </a:bodyPr>
          <a:lstStyle/>
          <a:p>
            <a:pPr algn="ctr"/>
            <a:endParaRPr lang="en-GB" sz="4400" b="0" strike="noStrike" spc="-1">
              <a:latin typeface="Arial"/>
            </a:endParaRPr>
          </a:p>
        </p:txBody>
      </p:sp>
      <p:sp>
        <p:nvSpPr>
          <p:cNvPr id="107" name="PlaceHolder 2"/>
          <p:cNvSpPr>
            <a:spLocks noGrp="1"/>
          </p:cNvSpPr>
          <p:nvPr>
            <p:ph type="body"/>
          </p:nvPr>
        </p:nvSpPr>
        <p:spPr>
          <a:xfrm>
            <a:off x="503640" y="1326240"/>
            <a:ext cx="4426200" cy="1839600"/>
          </a:xfrm>
          <a:prstGeom prst="rect">
            <a:avLst/>
          </a:prstGeom>
        </p:spPr>
        <p:txBody>
          <a:bodyPr lIns="0" tIns="0" rIns="0" bIns="0">
            <a:normAutofit/>
          </a:bodyPr>
          <a:lstStyle/>
          <a:p>
            <a:endParaRPr lang="en-GB" sz="3200" b="0" strike="noStrike" spc="-1">
              <a:latin typeface="Arial"/>
            </a:endParaRPr>
          </a:p>
        </p:txBody>
      </p:sp>
      <p:sp>
        <p:nvSpPr>
          <p:cNvPr id="108" name="PlaceHolder 3"/>
          <p:cNvSpPr>
            <a:spLocks noGrp="1"/>
          </p:cNvSpPr>
          <p:nvPr>
            <p:ph type="body"/>
          </p:nvPr>
        </p:nvSpPr>
        <p:spPr>
          <a:xfrm>
            <a:off x="5151600" y="1326240"/>
            <a:ext cx="4426200" cy="1839600"/>
          </a:xfrm>
          <a:prstGeom prst="rect">
            <a:avLst/>
          </a:prstGeom>
        </p:spPr>
        <p:txBody>
          <a:bodyPr lIns="0" tIns="0" rIns="0" bIns="0">
            <a:normAutofit/>
          </a:bodyPr>
          <a:lstStyle/>
          <a:p>
            <a:endParaRPr lang="en-GB" sz="3200" b="0" strike="noStrike" spc="-1">
              <a:latin typeface="Arial"/>
            </a:endParaRPr>
          </a:p>
        </p:txBody>
      </p:sp>
      <p:sp>
        <p:nvSpPr>
          <p:cNvPr id="109" name="PlaceHolder 4"/>
          <p:cNvSpPr>
            <a:spLocks noGrp="1"/>
          </p:cNvSpPr>
          <p:nvPr>
            <p:ph type="body"/>
          </p:nvPr>
        </p:nvSpPr>
        <p:spPr>
          <a:xfrm>
            <a:off x="503640" y="3341160"/>
            <a:ext cx="4426200" cy="1839600"/>
          </a:xfrm>
          <a:prstGeom prst="rect">
            <a:avLst/>
          </a:prstGeom>
        </p:spPr>
        <p:txBody>
          <a:bodyPr lIns="0" tIns="0" rIns="0" bIns="0">
            <a:normAutofit/>
          </a:bodyPr>
          <a:lstStyle/>
          <a:p>
            <a:endParaRPr lang="en-GB" sz="3200" b="0" strike="noStrike" spc="-1">
              <a:latin typeface="Arial"/>
            </a:endParaRPr>
          </a:p>
        </p:txBody>
      </p:sp>
      <p:sp>
        <p:nvSpPr>
          <p:cNvPr id="110" name="PlaceHolder 5"/>
          <p:cNvSpPr>
            <a:spLocks noGrp="1"/>
          </p:cNvSpPr>
          <p:nvPr>
            <p:ph type="body"/>
          </p:nvPr>
        </p:nvSpPr>
        <p:spPr>
          <a:xfrm>
            <a:off x="5151600" y="3341160"/>
            <a:ext cx="4426200" cy="1839600"/>
          </a:xfrm>
          <a:prstGeom prst="rect">
            <a:avLst/>
          </a:prstGeom>
        </p:spPr>
        <p:txBody>
          <a:bodyPr lIns="0" tIns="0" rIns="0" bIns="0">
            <a:normAutofit/>
          </a:bodyPr>
          <a:lstStyle/>
          <a:p>
            <a:endParaRPr lang="en-GB" sz="3200" b="0" strike="noStrike" spc="-1">
              <a:latin typeface="Aria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11" name="PlaceHolder 1"/>
          <p:cNvSpPr>
            <a:spLocks noGrp="1"/>
          </p:cNvSpPr>
          <p:nvPr>
            <p:ph type="title"/>
          </p:nvPr>
        </p:nvSpPr>
        <p:spPr>
          <a:xfrm>
            <a:off x="1079640" y="225720"/>
            <a:ext cx="8494560" cy="946080"/>
          </a:xfrm>
          <a:prstGeom prst="rect">
            <a:avLst/>
          </a:prstGeom>
        </p:spPr>
        <p:txBody>
          <a:bodyPr lIns="0" tIns="0" rIns="0" bIns="0" anchor="ctr">
            <a:noAutofit/>
          </a:bodyPr>
          <a:lstStyle/>
          <a:p>
            <a:pPr algn="ctr"/>
            <a:endParaRPr lang="en-GB" sz="4400" b="0" strike="noStrike" spc="-1">
              <a:latin typeface="Arial"/>
            </a:endParaRPr>
          </a:p>
        </p:txBody>
      </p:sp>
      <p:sp>
        <p:nvSpPr>
          <p:cNvPr id="112" name="PlaceHolder 2"/>
          <p:cNvSpPr>
            <a:spLocks noGrp="1"/>
          </p:cNvSpPr>
          <p:nvPr>
            <p:ph type="body"/>
          </p:nvPr>
        </p:nvSpPr>
        <p:spPr>
          <a:xfrm>
            <a:off x="503640" y="1326240"/>
            <a:ext cx="2920320" cy="1839600"/>
          </a:xfrm>
          <a:prstGeom prst="rect">
            <a:avLst/>
          </a:prstGeom>
        </p:spPr>
        <p:txBody>
          <a:bodyPr lIns="0" tIns="0" rIns="0" bIns="0">
            <a:normAutofit/>
          </a:bodyPr>
          <a:lstStyle/>
          <a:p>
            <a:endParaRPr lang="en-GB" sz="3200" b="0" strike="noStrike" spc="-1">
              <a:latin typeface="Arial"/>
            </a:endParaRPr>
          </a:p>
        </p:txBody>
      </p:sp>
      <p:sp>
        <p:nvSpPr>
          <p:cNvPr id="113" name="PlaceHolder 3"/>
          <p:cNvSpPr>
            <a:spLocks noGrp="1"/>
          </p:cNvSpPr>
          <p:nvPr>
            <p:ph type="body"/>
          </p:nvPr>
        </p:nvSpPr>
        <p:spPr>
          <a:xfrm>
            <a:off x="3570480" y="1326240"/>
            <a:ext cx="2920320" cy="1839600"/>
          </a:xfrm>
          <a:prstGeom prst="rect">
            <a:avLst/>
          </a:prstGeom>
        </p:spPr>
        <p:txBody>
          <a:bodyPr lIns="0" tIns="0" rIns="0" bIns="0">
            <a:normAutofit/>
          </a:bodyPr>
          <a:lstStyle/>
          <a:p>
            <a:endParaRPr lang="en-GB" sz="3200" b="0" strike="noStrike" spc="-1">
              <a:latin typeface="Arial"/>
            </a:endParaRPr>
          </a:p>
        </p:txBody>
      </p:sp>
      <p:sp>
        <p:nvSpPr>
          <p:cNvPr id="114" name="PlaceHolder 4"/>
          <p:cNvSpPr>
            <a:spLocks noGrp="1"/>
          </p:cNvSpPr>
          <p:nvPr>
            <p:ph type="body"/>
          </p:nvPr>
        </p:nvSpPr>
        <p:spPr>
          <a:xfrm>
            <a:off x="6636960" y="1326240"/>
            <a:ext cx="2920320" cy="1839600"/>
          </a:xfrm>
          <a:prstGeom prst="rect">
            <a:avLst/>
          </a:prstGeom>
        </p:spPr>
        <p:txBody>
          <a:bodyPr lIns="0" tIns="0" rIns="0" bIns="0">
            <a:normAutofit/>
          </a:bodyPr>
          <a:lstStyle/>
          <a:p>
            <a:endParaRPr lang="en-GB" sz="3200" b="0" strike="noStrike" spc="-1">
              <a:latin typeface="Arial"/>
            </a:endParaRPr>
          </a:p>
        </p:txBody>
      </p:sp>
      <p:sp>
        <p:nvSpPr>
          <p:cNvPr id="115" name="PlaceHolder 5"/>
          <p:cNvSpPr>
            <a:spLocks noGrp="1"/>
          </p:cNvSpPr>
          <p:nvPr>
            <p:ph type="body"/>
          </p:nvPr>
        </p:nvSpPr>
        <p:spPr>
          <a:xfrm>
            <a:off x="503640" y="3341160"/>
            <a:ext cx="2920320" cy="1839600"/>
          </a:xfrm>
          <a:prstGeom prst="rect">
            <a:avLst/>
          </a:prstGeom>
        </p:spPr>
        <p:txBody>
          <a:bodyPr lIns="0" tIns="0" rIns="0" bIns="0">
            <a:normAutofit/>
          </a:bodyPr>
          <a:lstStyle/>
          <a:p>
            <a:endParaRPr lang="en-GB" sz="3200" b="0" strike="noStrike" spc="-1">
              <a:latin typeface="Arial"/>
            </a:endParaRPr>
          </a:p>
        </p:txBody>
      </p:sp>
      <p:sp>
        <p:nvSpPr>
          <p:cNvPr id="116" name="PlaceHolder 6"/>
          <p:cNvSpPr>
            <a:spLocks noGrp="1"/>
          </p:cNvSpPr>
          <p:nvPr>
            <p:ph type="body"/>
          </p:nvPr>
        </p:nvSpPr>
        <p:spPr>
          <a:xfrm>
            <a:off x="3570480" y="3341160"/>
            <a:ext cx="2920320" cy="1839600"/>
          </a:xfrm>
          <a:prstGeom prst="rect">
            <a:avLst/>
          </a:prstGeom>
        </p:spPr>
        <p:txBody>
          <a:bodyPr lIns="0" tIns="0" rIns="0" bIns="0">
            <a:normAutofit/>
          </a:bodyPr>
          <a:lstStyle/>
          <a:p>
            <a:endParaRPr lang="en-GB" sz="3200" b="0" strike="noStrike" spc="-1">
              <a:latin typeface="Arial"/>
            </a:endParaRPr>
          </a:p>
        </p:txBody>
      </p:sp>
      <p:sp>
        <p:nvSpPr>
          <p:cNvPr id="117" name="PlaceHolder 7"/>
          <p:cNvSpPr>
            <a:spLocks noGrp="1"/>
          </p:cNvSpPr>
          <p:nvPr>
            <p:ph type="body"/>
          </p:nvPr>
        </p:nvSpPr>
        <p:spPr>
          <a:xfrm>
            <a:off x="6636960" y="3341160"/>
            <a:ext cx="2920320" cy="1839600"/>
          </a:xfrm>
          <a:prstGeom prst="rect">
            <a:avLst/>
          </a:prstGeom>
        </p:spPr>
        <p:txBody>
          <a:bodyPr lIns="0" tIns="0" rIns="0" bIns="0">
            <a:normAutofit/>
          </a:bodyPr>
          <a:lstStyle/>
          <a:p>
            <a:endParaRPr lang="en-GB" sz="3200" b="0" strike="noStrike" spc="-1">
              <a:latin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39" name="Picture 38"/>
          <p:cNvPicPr/>
          <p:nvPr/>
        </p:nvPicPr>
        <p:blipFill>
          <a:blip r:embed="rId14"/>
          <a:stretch/>
        </p:blipFill>
        <p:spPr>
          <a:xfrm>
            <a:off x="179640" y="215640"/>
            <a:ext cx="791640" cy="863640"/>
          </a:xfrm>
          <a:prstGeom prst="rect">
            <a:avLst/>
          </a:prstGeom>
          <a:ln>
            <a:noFill/>
          </a:ln>
        </p:spPr>
      </p:pic>
      <p:sp>
        <p:nvSpPr>
          <p:cNvPr id="40" name="PlaceHolder 1"/>
          <p:cNvSpPr>
            <a:spLocks noGrp="1"/>
          </p:cNvSpPr>
          <p:nvPr>
            <p:ph type="title"/>
          </p:nvPr>
        </p:nvSpPr>
        <p:spPr>
          <a:xfrm>
            <a:off x="1079640" y="225720"/>
            <a:ext cx="8494560" cy="946080"/>
          </a:xfrm>
          <a:prstGeom prst="rect">
            <a:avLst/>
          </a:prstGeom>
        </p:spPr>
        <p:txBody>
          <a:bodyPr lIns="0" tIns="0" rIns="0" bIns="0" anchor="ctr">
            <a:noAutofit/>
          </a:bodyPr>
          <a:lstStyle/>
          <a:p>
            <a:pPr algn="ctr"/>
            <a:r>
              <a:rPr lang="en-GB" sz="1800" b="0" strike="noStrike" spc="-1">
                <a:latin typeface="Arial"/>
              </a:rPr>
              <a:t>Click to edit the title text format</a:t>
            </a:r>
          </a:p>
        </p:txBody>
      </p:sp>
      <p:sp>
        <p:nvSpPr>
          <p:cNvPr id="41" name="PlaceHolder 2"/>
          <p:cNvSpPr>
            <a:spLocks noGrp="1"/>
          </p:cNvSpPr>
          <p:nvPr>
            <p:ph type="body"/>
          </p:nvPr>
        </p:nvSpPr>
        <p:spPr>
          <a:xfrm>
            <a:off x="503640" y="1326240"/>
            <a:ext cx="9070560" cy="3856680"/>
          </a:xfrm>
          <a:prstGeom prst="rect">
            <a:avLst/>
          </a:prstGeom>
        </p:spPr>
        <p:txBody>
          <a:bodyPr lIns="0" tIns="0" rIns="0" bIns="0">
            <a:normAutofit/>
          </a:bodyPr>
          <a:lstStyle/>
          <a:p>
            <a:pPr marL="432000" indent="-324000" algn="ctr">
              <a:spcBef>
                <a:spcPts val="1414"/>
              </a:spcBef>
              <a:buClr>
                <a:srgbClr val="000000"/>
              </a:buClr>
              <a:buSzPct val="45000"/>
              <a:buFont typeface="Wingdings" charset="2"/>
              <a:buChar char=""/>
            </a:pPr>
            <a:r>
              <a:rPr lang="en-GB" sz="1800" b="0" strike="noStrike" spc="-1">
                <a:latin typeface="Arial"/>
              </a:rPr>
              <a:t>Click to edit the outline text format</a:t>
            </a:r>
          </a:p>
          <a:p>
            <a:pPr marL="864000" lvl="1" indent="-324000" algn="ctr">
              <a:spcBef>
                <a:spcPts val="1131"/>
              </a:spcBef>
              <a:buClr>
                <a:srgbClr val="000000"/>
              </a:buClr>
              <a:buSzPct val="75000"/>
              <a:buFont typeface="Symbol" charset="2"/>
              <a:buChar char=""/>
            </a:pPr>
            <a:r>
              <a:rPr lang="en-GB" sz="1800" b="0" strike="noStrike" spc="-1">
                <a:latin typeface="Arial"/>
              </a:rPr>
              <a:t>Second Outline Level</a:t>
            </a:r>
          </a:p>
          <a:p>
            <a:pPr marL="1296000" lvl="2" indent="-288000" algn="ctr">
              <a:spcBef>
                <a:spcPts val="848"/>
              </a:spcBef>
              <a:buClr>
                <a:srgbClr val="000000"/>
              </a:buClr>
              <a:buSzPct val="45000"/>
              <a:buFont typeface="Wingdings" charset="2"/>
              <a:buChar char=""/>
            </a:pPr>
            <a:r>
              <a:rPr lang="en-GB" sz="1800" b="0" strike="noStrike" spc="-1">
                <a:latin typeface="Arial"/>
              </a:rPr>
              <a:t>Third Outline Level</a:t>
            </a:r>
          </a:p>
          <a:p>
            <a:pPr marL="1728000" lvl="3" indent="-216000" algn="ctr">
              <a:spcBef>
                <a:spcPts val="564"/>
              </a:spcBef>
              <a:buClr>
                <a:srgbClr val="000000"/>
              </a:buClr>
              <a:buSzPct val="75000"/>
              <a:buFont typeface="Symbol" charset="2"/>
              <a:buChar char=""/>
            </a:pPr>
            <a:r>
              <a:rPr lang="en-GB" sz="1800" b="0" strike="noStrike" spc="-1">
                <a:latin typeface="Arial"/>
              </a:rPr>
              <a:t>Fourth Outline Level</a:t>
            </a:r>
          </a:p>
          <a:p>
            <a:pPr marL="2160000" lvl="4" indent="-216000" algn="ctr">
              <a:spcBef>
                <a:spcPts val="281"/>
              </a:spcBef>
              <a:buClr>
                <a:srgbClr val="000000"/>
              </a:buClr>
              <a:buSzPct val="45000"/>
              <a:buFont typeface="Wingdings" charset="2"/>
              <a:buChar char=""/>
            </a:pPr>
            <a:r>
              <a:rPr lang="en-GB" sz="1800" b="0" strike="noStrike" spc="-1">
                <a:latin typeface="Arial"/>
              </a:rPr>
              <a:t>Fifth Outline Level</a:t>
            </a:r>
          </a:p>
          <a:p>
            <a:pPr marL="2592000" lvl="5" indent="-216000" algn="ctr">
              <a:spcBef>
                <a:spcPts val="281"/>
              </a:spcBef>
              <a:buClr>
                <a:srgbClr val="000000"/>
              </a:buClr>
              <a:buSzPct val="45000"/>
              <a:buFont typeface="Wingdings" charset="2"/>
              <a:buChar char=""/>
            </a:pPr>
            <a:r>
              <a:rPr lang="en-GB" sz="1800" b="0" strike="noStrike" spc="-1">
                <a:latin typeface="Arial"/>
              </a:rPr>
              <a:t>Sixth Outline Level</a:t>
            </a:r>
          </a:p>
          <a:p>
            <a:pPr marL="3024000" lvl="6" indent="-216000" algn="ctr">
              <a:spcBef>
                <a:spcPts val="281"/>
              </a:spcBef>
              <a:buClr>
                <a:srgbClr val="000000"/>
              </a:buClr>
              <a:buSzPct val="45000"/>
              <a:buFont typeface="Wingdings" charset="2"/>
              <a:buChar char=""/>
            </a:pPr>
            <a:r>
              <a:rPr lang="en-GB" sz="1800" b="0" strike="noStrike" spc="-1">
                <a:latin typeface="Arial"/>
              </a:rPr>
              <a:t>Seventh Outline Level</a:t>
            </a: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p:bodyStyle/>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8" name="Picture 77"/>
          <p:cNvPicPr/>
          <p:nvPr/>
        </p:nvPicPr>
        <p:blipFill>
          <a:blip r:embed="rId14"/>
          <a:stretch/>
        </p:blipFill>
        <p:spPr>
          <a:xfrm>
            <a:off x="179640" y="215640"/>
            <a:ext cx="791640" cy="863640"/>
          </a:xfrm>
          <a:prstGeom prst="rect">
            <a:avLst/>
          </a:prstGeom>
          <a:ln>
            <a:noFill/>
          </a:ln>
        </p:spPr>
      </p:pic>
      <p:sp>
        <p:nvSpPr>
          <p:cNvPr id="79" name="PlaceHolder 1"/>
          <p:cNvSpPr>
            <a:spLocks noGrp="1"/>
          </p:cNvSpPr>
          <p:nvPr>
            <p:ph type="title"/>
          </p:nvPr>
        </p:nvSpPr>
        <p:spPr>
          <a:xfrm>
            <a:off x="1079640" y="225720"/>
            <a:ext cx="8494560" cy="946080"/>
          </a:xfrm>
          <a:prstGeom prst="rect">
            <a:avLst/>
          </a:prstGeom>
        </p:spPr>
        <p:txBody>
          <a:bodyPr lIns="0" tIns="0" rIns="0" bIns="0" anchor="ctr">
            <a:noAutofit/>
          </a:bodyPr>
          <a:lstStyle/>
          <a:p>
            <a:pPr algn="ctr"/>
            <a:r>
              <a:rPr lang="en-GB" sz="1800" b="0" strike="noStrike" spc="-1">
                <a:latin typeface="Arial"/>
              </a:rPr>
              <a:t>Click to edit the title text format</a:t>
            </a:r>
          </a:p>
        </p:txBody>
      </p:sp>
      <p:sp>
        <p:nvSpPr>
          <p:cNvPr id="80" name="PlaceHolder 2"/>
          <p:cNvSpPr>
            <a:spLocks noGrp="1"/>
          </p:cNvSpPr>
          <p:nvPr>
            <p:ph type="body"/>
          </p:nvPr>
        </p:nvSpPr>
        <p:spPr>
          <a:xfrm>
            <a:off x="503640" y="1326240"/>
            <a:ext cx="4426200" cy="3856680"/>
          </a:xfrm>
          <a:prstGeom prst="rect">
            <a:avLst/>
          </a:prstGeom>
        </p:spPr>
        <p:txBody>
          <a:bodyPr lIns="0" tIns="0" rIns="0" bIns="0">
            <a:normAutofit/>
          </a:bodyPr>
          <a:lstStyle/>
          <a:p>
            <a:pPr marL="432000" indent="-324000" algn="ctr">
              <a:spcBef>
                <a:spcPts val="1414"/>
              </a:spcBef>
              <a:buClr>
                <a:srgbClr val="000000"/>
              </a:buClr>
              <a:buSzPct val="45000"/>
              <a:buFont typeface="Wingdings" charset="2"/>
              <a:buChar char=""/>
            </a:pPr>
            <a:r>
              <a:rPr lang="en-GB" sz="1800" b="0" strike="noStrike" spc="-1">
                <a:latin typeface="Arial"/>
              </a:rPr>
              <a:t>Click to edit the outline text format</a:t>
            </a:r>
          </a:p>
          <a:p>
            <a:pPr marL="864000" lvl="1" indent="-324000" algn="ctr">
              <a:spcBef>
                <a:spcPts val="1131"/>
              </a:spcBef>
              <a:buClr>
                <a:srgbClr val="000000"/>
              </a:buClr>
              <a:buSzPct val="75000"/>
              <a:buFont typeface="Symbol" charset="2"/>
              <a:buChar char=""/>
            </a:pPr>
            <a:r>
              <a:rPr lang="en-GB" sz="1800" b="0" strike="noStrike" spc="-1">
                <a:latin typeface="Arial"/>
              </a:rPr>
              <a:t>Second Outline Level</a:t>
            </a:r>
          </a:p>
          <a:p>
            <a:pPr marL="1296000" lvl="2" indent="-288000" algn="ctr">
              <a:spcBef>
                <a:spcPts val="848"/>
              </a:spcBef>
              <a:buClr>
                <a:srgbClr val="000000"/>
              </a:buClr>
              <a:buSzPct val="45000"/>
              <a:buFont typeface="Wingdings" charset="2"/>
              <a:buChar char=""/>
            </a:pPr>
            <a:r>
              <a:rPr lang="en-GB" sz="1800" b="0" strike="noStrike" spc="-1">
                <a:latin typeface="Arial"/>
              </a:rPr>
              <a:t>Third Outline Level</a:t>
            </a:r>
          </a:p>
          <a:p>
            <a:pPr marL="1728000" lvl="3" indent="-216000" algn="ctr">
              <a:spcBef>
                <a:spcPts val="564"/>
              </a:spcBef>
              <a:buClr>
                <a:srgbClr val="000000"/>
              </a:buClr>
              <a:buSzPct val="75000"/>
              <a:buFont typeface="Symbol" charset="2"/>
              <a:buChar char=""/>
            </a:pPr>
            <a:r>
              <a:rPr lang="en-GB" sz="1800" b="0" strike="noStrike" spc="-1">
                <a:latin typeface="Arial"/>
              </a:rPr>
              <a:t>Fourth Outline Level</a:t>
            </a:r>
          </a:p>
          <a:p>
            <a:pPr marL="2160000" lvl="4" indent="-216000" algn="ctr">
              <a:spcBef>
                <a:spcPts val="281"/>
              </a:spcBef>
              <a:buClr>
                <a:srgbClr val="000000"/>
              </a:buClr>
              <a:buSzPct val="45000"/>
              <a:buFont typeface="Wingdings" charset="2"/>
              <a:buChar char=""/>
            </a:pPr>
            <a:r>
              <a:rPr lang="en-GB" sz="1800" b="0" strike="noStrike" spc="-1">
                <a:latin typeface="Arial"/>
              </a:rPr>
              <a:t>Fifth Outline Level</a:t>
            </a:r>
          </a:p>
          <a:p>
            <a:pPr marL="2592000" lvl="5" indent="-216000" algn="ctr">
              <a:spcBef>
                <a:spcPts val="281"/>
              </a:spcBef>
              <a:buClr>
                <a:srgbClr val="000000"/>
              </a:buClr>
              <a:buSzPct val="45000"/>
              <a:buFont typeface="Wingdings" charset="2"/>
              <a:buChar char=""/>
            </a:pPr>
            <a:r>
              <a:rPr lang="en-GB" sz="1800" b="0" strike="noStrike" spc="-1">
                <a:latin typeface="Arial"/>
              </a:rPr>
              <a:t>Sixth Outline Level</a:t>
            </a:r>
          </a:p>
          <a:p>
            <a:pPr marL="3024000" lvl="6" indent="-216000" algn="ctr">
              <a:spcBef>
                <a:spcPts val="281"/>
              </a:spcBef>
              <a:buClr>
                <a:srgbClr val="000000"/>
              </a:buClr>
              <a:buSzPct val="45000"/>
              <a:buFont typeface="Wingdings" charset="2"/>
              <a:buChar char=""/>
            </a:pPr>
            <a:r>
              <a:rPr lang="en-GB" sz="1800" b="0" strike="noStrike" spc="-1">
                <a:latin typeface="Arial"/>
              </a:rPr>
              <a:t>Seventh Outline Level</a:t>
            </a:r>
          </a:p>
        </p:txBody>
      </p:sp>
      <p:sp>
        <p:nvSpPr>
          <p:cNvPr id="81" name="PlaceHolder 3"/>
          <p:cNvSpPr>
            <a:spLocks noGrp="1"/>
          </p:cNvSpPr>
          <p:nvPr>
            <p:ph type="body"/>
          </p:nvPr>
        </p:nvSpPr>
        <p:spPr>
          <a:xfrm>
            <a:off x="5151960" y="1326240"/>
            <a:ext cx="4426200" cy="3856680"/>
          </a:xfrm>
          <a:prstGeom prst="rect">
            <a:avLst/>
          </a:prstGeom>
        </p:spPr>
        <p:txBody>
          <a:bodyPr lIns="0" tIns="0" rIns="0" bIns="0">
            <a:normAutofit/>
          </a:bodyPr>
          <a:lstStyle/>
          <a:p>
            <a:pPr marL="432000" indent="-324000" algn="ctr">
              <a:spcBef>
                <a:spcPts val="1414"/>
              </a:spcBef>
              <a:buClr>
                <a:srgbClr val="000000"/>
              </a:buClr>
              <a:buSzPct val="45000"/>
              <a:buFont typeface="Wingdings" charset="2"/>
              <a:buChar char=""/>
            </a:pPr>
            <a:r>
              <a:rPr lang="en-GB" sz="1800" b="0" strike="noStrike" spc="-1">
                <a:latin typeface="Arial"/>
              </a:rPr>
              <a:t>Click to edit the outline text format</a:t>
            </a:r>
          </a:p>
          <a:p>
            <a:pPr marL="864000" lvl="1" indent="-324000" algn="ctr">
              <a:spcBef>
                <a:spcPts val="1131"/>
              </a:spcBef>
              <a:buClr>
                <a:srgbClr val="000000"/>
              </a:buClr>
              <a:buSzPct val="75000"/>
              <a:buFont typeface="Symbol" charset="2"/>
              <a:buChar char=""/>
            </a:pPr>
            <a:r>
              <a:rPr lang="en-GB" sz="1800" b="0" strike="noStrike" spc="-1">
                <a:latin typeface="Arial"/>
              </a:rPr>
              <a:t>Second Outline Level</a:t>
            </a:r>
          </a:p>
          <a:p>
            <a:pPr marL="1296000" lvl="2" indent="-288000" algn="ctr">
              <a:spcBef>
                <a:spcPts val="848"/>
              </a:spcBef>
              <a:buClr>
                <a:srgbClr val="000000"/>
              </a:buClr>
              <a:buSzPct val="45000"/>
              <a:buFont typeface="Wingdings" charset="2"/>
              <a:buChar char=""/>
            </a:pPr>
            <a:r>
              <a:rPr lang="en-GB" sz="1800" b="0" strike="noStrike" spc="-1">
                <a:latin typeface="Arial"/>
              </a:rPr>
              <a:t>Third Outline Level</a:t>
            </a:r>
          </a:p>
          <a:p>
            <a:pPr marL="1728000" lvl="3" indent="-216000" algn="ctr">
              <a:spcBef>
                <a:spcPts val="564"/>
              </a:spcBef>
              <a:buClr>
                <a:srgbClr val="000000"/>
              </a:buClr>
              <a:buSzPct val="75000"/>
              <a:buFont typeface="Symbol" charset="2"/>
              <a:buChar char=""/>
            </a:pPr>
            <a:r>
              <a:rPr lang="en-GB" sz="1800" b="0" strike="noStrike" spc="-1">
                <a:latin typeface="Arial"/>
              </a:rPr>
              <a:t>Fourth Outline Level</a:t>
            </a:r>
          </a:p>
          <a:p>
            <a:pPr marL="2160000" lvl="4" indent="-216000" algn="ctr">
              <a:spcBef>
                <a:spcPts val="281"/>
              </a:spcBef>
              <a:buClr>
                <a:srgbClr val="000000"/>
              </a:buClr>
              <a:buSzPct val="45000"/>
              <a:buFont typeface="Wingdings" charset="2"/>
              <a:buChar char=""/>
            </a:pPr>
            <a:r>
              <a:rPr lang="en-GB" sz="1800" b="0" strike="noStrike" spc="-1">
                <a:latin typeface="Arial"/>
              </a:rPr>
              <a:t>Fifth Outline Level</a:t>
            </a:r>
          </a:p>
          <a:p>
            <a:pPr marL="2592000" lvl="5" indent="-216000" algn="ctr">
              <a:spcBef>
                <a:spcPts val="281"/>
              </a:spcBef>
              <a:buClr>
                <a:srgbClr val="000000"/>
              </a:buClr>
              <a:buSzPct val="45000"/>
              <a:buFont typeface="Wingdings" charset="2"/>
              <a:buChar char=""/>
            </a:pPr>
            <a:r>
              <a:rPr lang="en-GB" sz="1800" b="0" strike="noStrike" spc="-1">
                <a:latin typeface="Arial"/>
              </a:rPr>
              <a:t>Sixth Outline Level</a:t>
            </a:r>
          </a:p>
          <a:p>
            <a:pPr marL="3024000" lvl="6" indent="-216000" algn="ctr">
              <a:spcBef>
                <a:spcPts val="281"/>
              </a:spcBef>
              <a:buClr>
                <a:srgbClr val="000000"/>
              </a:buClr>
              <a:buSzPct val="45000"/>
              <a:buFont typeface="Wingdings" charset="2"/>
              <a:buChar char=""/>
            </a:pPr>
            <a:r>
              <a:rPr lang="en-GB" sz="1800" b="0" strike="noStrike" spc="-1">
                <a:latin typeface="Arial"/>
              </a:rPr>
              <a:t>Seventh Outline Level</a:t>
            </a:r>
          </a:p>
        </p:txBody>
      </p:sp>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txStyles>
    <p:titleStyle/>
    <p:bodyStyle/>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6.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6.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6.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6.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6.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6.xml"/></Relationships>
</file>

<file path=ppt/slides/_rels/slide2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6.xml"/></Relationships>
</file>

<file path=ppt/slides/_rels/slide2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6.xml"/></Relationships>
</file>

<file path=ppt/slides/_rels/slide3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6.xml"/></Relationships>
</file>

<file path=ppt/slides/_rels/slide3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6.xml"/></Relationships>
</file>

<file path=ppt/slides/_rels/slide3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6.xml"/></Relationships>
</file>

<file path=ppt/slides/_rels/slide3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smtClean="0"/>
              <a:t> Problem solving by Search</a:t>
            </a:r>
            <a:endParaRPr lang="en-US" sz="4400" dirty="0"/>
          </a:p>
        </p:txBody>
      </p:sp>
      <p:sp>
        <p:nvSpPr>
          <p:cNvPr id="3" name="Subtitle 2"/>
          <p:cNvSpPr>
            <a:spLocks noGrp="1"/>
          </p:cNvSpPr>
          <p:nvPr>
            <p:ph type="subTitle"/>
          </p:nvPr>
        </p:nvSpPr>
        <p:spPr>
          <a:xfrm>
            <a:off x="-575120" y="1513582"/>
            <a:ext cx="8926608" cy="4032448"/>
          </a:xfrm>
        </p:spPr>
        <p:txBody>
          <a:bodyPr/>
          <a:lstStyle/>
          <a:p>
            <a:r>
              <a:rPr lang="en-US" dirty="0" smtClean="0"/>
              <a:t> </a:t>
            </a:r>
            <a:endParaRPr lang="en-US" sz="1600" dirty="0" smtClean="0"/>
          </a:p>
          <a:p>
            <a:endParaRPr lang="en-US" dirty="0"/>
          </a:p>
        </p:txBody>
      </p:sp>
      <p:sp>
        <p:nvSpPr>
          <p:cNvPr id="4" name="Rectangle 3"/>
          <p:cNvSpPr/>
          <p:nvPr/>
        </p:nvSpPr>
        <p:spPr>
          <a:xfrm>
            <a:off x="431800" y="1151840"/>
            <a:ext cx="9432801" cy="4524315"/>
          </a:xfrm>
          <a:prstGeom prst="rect">
            <a:avLst/>
          </a:prstGeom>
        </p:spPr>
        <p:txBody>
          <a:bodyPr wrap="square">
            <a:spAutoFit/>
          </a:bodyPr>
          <a:lstStyle/>
          <a:p>
            <a:pPr lvl="0"/>
            <a:r>
              <a:rPr lang="en-US" dirty="0"/>
              <a:t> </a:t>
            </a:r>
            <a:r>
              <a:rPr lang="en-US" b="1" dirty="0"/>
              <a:t>Search:</a:t>
            </a:r>
            <a:r>
              <a:rPr lang="en-US" dirty="0"/>
              <a:t> </a:t>
            </a:r>
            <a:r>
              <a:rPr lang="en-US" dirty="0" smtClean="0"/>
              <a:t>Searching is </a:t>
            </a:r>
            <a:r>
              <a:rPr lang="en-US" dirty="0"/>
              <a:t>a step by step procedure to solve a search-problem in a given search space. A search problem can have three main factors:</a:t>
            </a:r>
            <a:endParaRPr lang="en-US" sz="2800" dirty="0"/>
          </a:p>
          <a:p>
            <a:pPr lvl="1"/>
            <a:r>
              <a:rPr lang="en-US" b="1" dirty="0"/>
              <a:t>Search Space:</a:t>
            </a:r>
            <a:r>
              <a:rPr lang="en-US" dirty="0"/>
              <a:t> Search space represents a set of possible solutions, which a system may have.</a:t>
            </a:r>
            <a:endParaRPr lang="en-US" sz="2800" dirty="0"/>
          </a:p>
          <a:p>
            <a:pPr lvl="1"/>
            <a:r>
              <a:rPr lang="en-US" b="1" dirty="0"/>
              <a:t>Start State:</a:t>
            </a:r>
            <a:r>
              <a:rPr lang="en-US" dirty="0"/>
              <a:t> It is a state from where agent begins </a:t>
            </a:r>
            <a:r>
              <a:rPr lang="en-US" b="1" dirty="0"/>
              <a:t>the search</a:t>
            </a:r>
            <a:r>
              <a:rPr lang="en-US" dirty="0"/>
              <a:t>.</a:t>
            </a:r>
            <a:endParaRPr lang="en-US" sz="2800" dirty="0"/>
          </a:p>
          <a:p>
            <a:pPr lvl="1"/>
            <a:r>
              <a:rPr lang="en-US" b="1" dirty="0"/>
              <a:t>Goal test:</a:t>
            </a:r>
            <a:r>
              <a:rPr lang="en-US" dirty="0"/>
              <a:t> It is a function which observe the current state and returns whether the goal state is achieved or not.</a:t>
            </a:r>
            <a:endParaRPr lang="en-US" sz="2800" dirty="0"/>
          </a:p>
          <a:p>
            <a:pPr lvl="0"/>
            <a:r>
              <a:rPr lang="en-US" b="1" dirty="0"/>
              <a:t>Search tree:</a:t>
            </a:r>
            <a:r>
              <a:rPr lang="en-US" dirty="0"/>
              <a:t> A tree representation of search problem is called Search tree. The root of the search tree is the root node which is corresponding to the initial state.</a:t>
            </a:r>
            <a:endParaRPr lang="en-US" sz="2800" dirty="0"/>
          </a:p>
          <a:p>
            <a:pPr lvl="0"/>
            <a:r>
              <a:rPr lang="en-US" b="1" dirty="0"/>
              <a:t>Actions:</a:t>
            </a:r>
            <a:r>
              <a:rPr lang="en-US" dirty="0"/>
              <a:t> It gives the description of all the available actions to the agent.</a:t>
            </a:r>
            <a:endParaRPr lang="en-US" sz="2800" dirty="0"/>
          </a:p>
          <a:p>
            <a:pPr lvl="0"/>
            <a:r>
              <a:rPr lang="en-US" b="1" dirty="0"/>
              <a:t>Transition model:</a:t>
            </a:r>
            <a:r>
              <a:rPr lang="en-US" dirty="0"/>
              <a:t> A description of what each action do, can be represented as a transition model.</a:t>
            </a:r>
            <a:endParaRPr lang="en-US" sz="2800" dirty="0"/>
          </a:p>
          <a:p>
            <a:pPr lvl="0"/>
            <a:r>
              <a:rPr lang="en-US" b="1" dirty="0"/>
              <a:t>Path Cost:</a:t>
            </a:r>
            <a:r>
              <a:rPr lang="en-US" dirty="0"/>
              <a:t> It is a function which assigns a numeric cost to each path.</a:t>
            </a:r>
            <a:endParaRPr lang="en-US" sz="2800" dirty="0"/>
          </a:p>
          <a:p>
            <a:pPr lvl="0"/>
            <a:r>
              <a:rPr lang="en-US" b="1" dirty="0"/>
              <a:t>Solution:</a:t>
            </a:r>
            <a:r>
              <a:rPr lang="en-US" dirty="0"/>
              <a:t> It is an action sequence which leads from the start node to the goal node.</a:t>
            </a:r>
            <a:endParaRPr lang="en-US" sz="2800" dirty="0"/>
          </a:p>
          <a:p>
            <a:pPr lvl="0"/>
            <a:r>
              <a:rPr lang="en-US" b="1" dirty="0"/>
              <a:t>Optimal Solution:</a:t>
            </a:r>
            <a:r>
              <a:rPr lang="en-US" dirty="0"/>
              <a:t> If a solution has the </a:t>
            </a:r>
            <a:r>
              <a:rPr lang="en-US" dirty="0" smtClean="0"/>
              <a:t>Best cost </a:t>
            </a:r>
            <a:r>
              <a:rPr lang="en-US" dirty="0"/>
              <a:t>among all solutions.</a:t>
            </a:r>
            <a:endParaRPr lang="en-US" sz="2800" dirty="0"/>
          </a:p>
          <a:p>
            <a:pPr lvl="0"/>
            <a:endParaRPr lang="en-US" dirty="0"/>
          </a:p>
        </p:txBody>
      </p:sp>
    </p:spTree>
    <p:extLst>
      <p:ext uri="{BB962C8B-B14F-4D97-AF65-F5344CB8AC3E}">
        <p14:creationId xmlns:p14="http://schemas.microsoft.com/office/powerpoint/2010/main" val="26475849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 name="CustomShape 1"/>
          <p:cNvSpPr/>
          <p:nvPr/>
        </p:nvSpPr>
        <p:spPr>
          <a:xfrm>
            <a:off x="1079640" y="225720"/>
            <a:ext cx="8494560" cy="94608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pPr>
            <a:endParaRPr lang="en-GB" sz="4400" b="0" strike="noStrike" spc="-1" dirty="0">
              <a:latin typeface="Arial"/>
            </a:endParaRPr>
          </a:p>
        </p:txBody>
      </p:sp>
      <p:sp>
        <p:nvSpPr>
          <p:cNvPr id="2" name="Rectangle 1"/>
          <p:cNvSpPr/>
          <p:nvPr/>
        </p:nvSpPr>
        <p:spPr>
          <a:xfrm>
            <a:off x="414459" y="1467123"/>
            <a:ext cx="9142400" cy="2862322"/>
          </a:xfrm>
          <a:prstGeom prst="rect">
            <a:avLst/>
          </a:prstGeom>
        </p:spPr>
        <p:txBody>
          <a:bodyPr wrap="square">
            <a:spAutoFit/>
          </a:bodyPr>
          <a:lstStyle/>
          <a:p>
            <a:r>
              <a:rPr lang="en-US" b="1" dirty="0"/>
              <a:t>Completeness:</a:t>
            </a:r>
            <a:r>
              <a:rPr lang="en-US" dirty="0"/>
              <a:t> A search algorithm is said to be complete if it guarantees to return a solution if at least any solution exists for any random input.</a:t>
            </a:r>
          </a:p>
          <a:p>
            <a:r>
              <a:rPr lang="en-US" b="1" dirty="0"/>
              <a:t>Optimality:</a:t>
            </a:r>
            <a:r>
              <a:rPr lang="en-US" dirty="0"/>
              <a:t> If a solution found for an algorithm is guaranteed to be the best solution (lowest path cost) among all other solutions, then such a solution for is said to be an optimal solution.</a:t>
            </a:r>
          </a:p>
          <a:p>
            <a:r>
              <a:rPr lang="en-US" b="1" dirty="0"/>
              <a:t>Time Complexity:</a:t>
            </a:r>
            <a:r>
              <a:rPr lang="en-US" dirty="0"/>
              <a:t> Time complexity is a measure of time for an algorithm to complete its task.</a:t>
            </a:r>
          </a:p>
          <a:p>
            <a:r>
              <a:rPr lang="en-US" b="1" dirty="0"/>
              <a:t>Space Complexity:</a:t>
            </a:r>
            <a:r>
              <a:rPr lang="en-US" dirty="0"/>
              <a:t> It is the maximum storage space required at any point during the search, as the complexity of the problem.</a:t>
            </a:r>
          </a:p>
          <a:p>
            <a:endParaRPr lang="en-US" dirty="0"/>
          </a:p>
        </p:txBody>
      </p:sp>
      <p:sp>
        <p:nvSpPr>
          <p:cNvPr id="3" name="TextBox 2"/>
          <p:cNvSpPr txBox="1"/>
          <p:nvPr/>
        </p:nvSpPr>
        <p:spPr>
          <a:xfrm>
            <a:off x="2448024" y="698760"/>
            <a:ext cx="5673348" cy="584775"/>
          </a:xfrm>
          <a:prstGeom prst="rect">
            <a:avLst/>
          </a:prstGeom>
          <a:noFill/>
        </p:spPr>
        <p:txBody>
          <a:bodyPr wrap="none" rtlCol="0">
            <a:spAutoFit/>
          </a:bodyPr>
          <a:lstStyle/>
          <a:p>
            <a:r>
              <a:rPr lang="en-US" sz="3200" dirty="0" smtClean="0"/>
              <a:t>Criteria of Evaluating a search</a:t>
            </a:r>
            <a:endParaRPr lang="en-US" sz="3200" dirty="0"/>
          </a:p>
        </p:txBody>
      </p:sp>
      <p:sp>
        <p:nvSpPr>
          <p:cNvPr id="4" name="TextBox 3"/>
          <p:cNvSpPr txBox="1"/>
          <p:nvPr/>
        </p:nvSpPr>
        <p:spPr>
          <a:xfrm>
            <a:off x="1190670" y="4329445"/>
            <a:ext cx="6192688" cy="646331"/>
          </a:xfrm>
          <a:prstGeom prst="rect">
            <a:avLst/>
          </a:prstGeom>
          <a:noFill/>
        </p:spPr>
        <p:txBody>
          <a:bodyPr wrap="square" rtlCol="0">
            <a:spAutoFit/>
          </a:bodyPr>
          <a:lstStyle/>
          <a:p>
            <a:r>
              <a:rPr lang="en-US" dirty="0" smtClean="0"/>
              <a:t>Time and space complexity  is measured in terms of  b, d,</a:t>
            </a:r>
            <a:r>
              <a:rPr lang="en-US" b="1" dirty="0"/>
              <a:t> </a:t>
            </a:r>
            <a:r>
              <a:rPr lang="en-US" dirty="0"/>
              <a:t>ℓ</a:t>
            </a:r>
            <a:r>
              <a:rPr lang="en-US" dirty="0" smtClean="0"/>
              <a:t> and m</a:t>
            </a:r>
            <a:endParaRPr lang="en-US" dirty="0"/>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r>
              <a:rPr lang="en-US" sz="4400" dirty="0" smtClean="0"/>
              <a:t>Types of Search</a:t>
            </a:r>
            <a:endParaRPr lang="en-US" sz="4400" dirty="0"/>
          </a:p>
        </p:txBody>
      </p:sp>
      <p:pic>
        <p:nvPicPr>
          <p:cNvPr id="4" name="Picture 3" descr="Search Algorithms in Artificial Intelligence"/>
          <p:cNvPicPr/>
          <p:nvPr/>
        </p:nvPicPr>
        <p:blipFill>
          <a:blip r:embed="rId2">
            <a:extLst>
              <a:ext uri="{28A0092B-C50C-407E-A947-70E740481C1C}">
                <a14:useLocalDpi xmlns:a14="http://schemas.microsoft.com/office/drawing/2010/main" val="0"/>
              </a:ext>
            </a:extLst>
          </a:blip>
          <a:srcRect/>
          <a:stretch>
            <a:fillRect/>
          </a:stretch>
        </p:blipFill>
        <p:spPr bwMode="auto">
          <a:xfrm>
            <a:off x="1511920" y="1107084"/>
            <a:ext cx="6768752" cy="3456384"/>
          </a:xfrm>
          <a:prstGeom prst="rect">
            <a:avLst/>
          </a:prstGeom>
          <a:noFill/>
          <a:ln>
            <a:noFill/>
          </a:ln>
        </p:spPr>
      </p:pic>
    </p:spTree>
    <p:extLst>
      <p:ext uri="{BB962C8B-B14F-4D97-AF65-F5344CB8AC3E}">
        <p14:creationId xmlns:p14="http://schemas.microsoft.com/office/powerpoint/2010/main" val="87850566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smtClean="0"/>
              <a:t>Breadth First Search</a:t>
            </a:r>
            <a:endParaRPr lang="en-US" sz="3200" dirty="0"/>
          </a:p>
        </p:txBody>
      </p:sp>
      <p:sp>
        <p:nvSpPr>
          <p:cNvPr id="3" name="Text Placeholder 2"/>
          <p:cNvSpPr>
            <a:spLocks noGrp="1"/>
          </p:cNvSpPr>
          <p:nvPr>
            <p:ph type="body"/>
          </p:nvPr>
        </p:nvSpPr>
        <p:spPr>
          <a:xfrm>
            <a:off x="935856" y="1241123"/>
            <a:ext cx="8494560" cy="946080"/>
          </a:xfrm>
        </p:spPr>
        <p:txBody>
          <a:bodyPr/>
          <a:lstStyle/>
          <a:p>
            <a:r>
              <a:rPr lang="en-US" dirty="0"/>
              <a:t>Breadth-first search implemented using FIFO queue data </a:t>
            </a:r>
            <a:r>
              <a:rPr lang="en-US" dirty="0" smtClean="0"/>
              <a:t>structure.</a:t>
            </a:r>
          </a:p>
          <a:p>
            <a:r>
              <a:rPr lang="en-US" dirty="0" smtClean="0"/>
              <a:t>Does breadthwise search Level by level</a:t>
            </a:r>
            <a:endParaRPr lang="en-US" dirty="0"/>
          </a:p>
        </p:txBody>
      </p:sp>
      <p:sp>
        <p:nvSpPr>
          <p:cNvPr id="4" name="Text Placeholder 3"/>
          <p:cNvSpPr>
            <a:spLocks noGrp="1"/>
          </p:cNvSpPr>
          <p:nvPr>
            <p:ph type="body"/>
          </p:nvPr>
        </p:nvSpPr>
        <p:spPr>
          <a:xfrm>
            <a:off x="5040312" y="1251099"/>
            <a:ext cx="4426200" cy="3856680"/>
          </a:xfrm>
        </p:spPr>
        <p:txBody>
          <a:bodyPr/>
          <a:lstStyle/>
          <a:p>
            <a:r>
              <a:rPr lang="en-US" b="1" dirty="0" smtClean="0"/>
              <a:t>Order: </a:t>
            </a:r>
            <a:r>
              <a:rPr lang="en-US" dirty="0" smtClean="0"/>
              <a:t>S-</a:t>
            </a:r>
            <a:r>
              <a:rPr lang="en-US" dirty="0"/>
              <a:t>--&gt; A---&gt;B----&gt;C---&gt;D----&gt;G---&gt;H---&gt;E----&gt;F----&gt;I-</a:t>
            </a:r>
            <a:r>
              <a:rPr lang="en-US" dirty="0" smtClean="0"/>
              <a:t>---&gt;K</a:t>
            </a:r>
            <a:endParaRPr lang="en-US" b="1" dirty="0" smtClean="0"/>
          </a:p>
          <a:p>
            <a:endParaRPr lang="en-US" b="1" dirty="0" smtClean="0"/>
          </a:p>
          <a:p>
            <a:r>
              <a:rPr lang="en-US" sz="1200" b="1" dirty="0" smtClean="0"/>
              <a:t>Completeness? – Yes  only </a:t>
            </a:r>
            <a:r>
              <a:rPr lang="en-US" sz="1200" b="1" dirty="0" smtClean="0">
                <a:solidFill>
                  <a:srgbClr val="FF0000"/>
                </a:solidFill>
              </a:rPr>
              <a:t>if </a:t>
            </a:r>
            <a:r>
              <a:rPr lang="en-US" sz="1200" b="1" dirty="0">
                <a:solidFill>
                  <a:srgbClr val="FF0000"/>
                </a:solidFill>
              </a:rPr>
              <a:t> </a:t>
            </a:r>
            <a:r>
              <a:rPr lang="en-US" sz="1200" b="1" dirty="0" smtClean="0">
                <a:solidFill>
                  <a:srgbClr val="FF0000"/>
                </a:solidFill>
              </a:rPr>
              <a:t> b, d  is finite</a:t>
            </a:r>
          </a:p>
          <a:p>
            <a:r>
              <a:rPr lang="en-US" sz="1200" b="1" dirty="0" smtClean="0"/>
              <a:t>Optimal –</a:t>
            </a:r>
            <a:r>
              <a:rPr lang="en-US" sz="1200" b="1" dirty="0" smtClean="0">
                <a:solidFill>
                  <a:srgbClr val="FF0000"/>
                </a:solidFill>
              </a:rPr>
              <a:t>NO</a:t>
            </a:r>
          </a:p>
          <a:p>
            <a:r>
              <a:rPr lang="en-US" sz="1200" b="1" dirty="0" smtClean="0"/>
              <a:t>Time complexity=&gt;  </a:t>
            </a:r>
            <a:r>
              <a:rPr lang="en-US" sz="1200" b="1" dirty="0"/>
              <a:t>T (b) = 1+b</a:t>
            </a:r>
            <a:r>
              <a:rPr lang="en-US" sz="1200" b="1" baseline="30000" dirty="0"/>
              <a:t>2</a:t>
            </a:r>
            <a:r>
              <a:rPr lang="en-US" sz="1200" b="1" dirty="0"/>
              <a:t>+b</a:t>
            </a:r>
            <a:r>
              <a:rPr lang="en-US" sz="1200" b="1" baseline="30000" dirty="0"/>
              <a:t>3</a:t>
            </a:r>
            <a:r>
              <a:rPr lang="en-US" sz="1200" b="1" dirty="0"/>
              <a:t>+.......+ </a:t>
            </a:r>
            <a:r>
              <a:rPr lang="en-US" sz="1200" b="1" dirty="0" smtClean="0"/>
              <a:t>b</a:t>
            </a:r>
            <a:r>
              <a:rPr lang="en-US" sz="1200" b="1" baseline="30000" dirty="0" smtClean="0"/>
              <a:t>d </a:t>
            </a:r>
            <a:r>
              <a:rPr lang="en-US" sz="1200" b="1" dirty="0" smtClean="0"/>
              <a:t>=  </a:t>
            </a:r>
            <a:r>
              <a:rPr lang="en-US" sz="1200" b="1" dirty="0" smtClean="0">
                <a:solidFill>
                  <a:srgbClr val="FF0000"/>
                </a:solidFill>
              </a:rPr>
              <a:t>O </a:t>
            </a:r>
            <a:r>
              <a:rPr lang="en-US" sz="1200" b="1" dirty="0">
                <a:solidFill>
                  <a:srgbClr val="FF0000"/>
                </a:solidFill>
              </a:rPr>
              <a:t>(b</a:t>
            </a:r>
            <a:r>
              <a:rPr lang="en-US" sz="1200" b="1" baseline="30000" dirty="0">
                <a:solidFill>
                  <a:srgbClr val="FF0000"/>
                </a:solidFill>
              </a:rPr>
              <a:t>d</a:t>
            </a:r>
            <a:r>
              <a:rPr lang="en-US" sz="1200" b="1" dirty="0">
                <a:solidFill>
                  <a:srgbClr val="FF0000"/>
                </a:solidFill>
              </a:rPr>
              <a:t>)</a:t>
            </a:r>
            <a:endParaRPr lang="en-US" sz="1200" dirty="0">
              <a:solidFill>
                <a:srgbClr val="FF0000"/>
              </a:solidFill>
            </a:endParaRPr>
          </a:p>
          <a:p>
            <a:r>
              <a:rPr lang="en-US" sz="1200" b="1" dirty="0" smtClean="0"/>
              <a:t>Space complexity=&gt; </a:t>
            </a:r>
            <a:r>
              <a:rPr lang="en-US" sz="1200" dirty="0">
                <a:solidFill>
                  <a:srgbClr val="FF0000"/>
                </a:solidFill>
              </a:rPr>
              <a:t>O(</a:t>
            </a:r>
            <a:r>
              <a:rPr lang="en-US" sz="1200" dirty="0" err="1">
                <a:solidFill>
                  <a:srgbClr val="FF0000"/>
                </a:solidFill>
              </a:rPr>
              <a:t>b</a:t>
            </a:r>
            <a:r>
              <a:rPr lang="en-US" sz="1200" baseline="30000" dirty="0" err="1">
                <a:solidFill>
                  <a:srgbClr val="FF0000"/>
                </a:solidFill>
              </a:rPr>
              <a:t>d</a:t>
            </a:r>
            <a:r>
              <a:rPr lang="en-US" sz="1200" dirty="0">
                <a:solidFill>
                  <a:srgbClr val="FF0000"/>
                </a:solidFill>
              </a:rPr>
              <a:t>).</a:t>
            </a:r>
            <a:r>
              <a:rPr lang="en-US" sz="1200" b="1" dirty="0" smtClean="0">
                <a:solidFill>
                  <a:srgbClr val="FF0000"/>
                </a:solidFill>
              </a:rPr>
              <a:t> </a:t>
            </a:r>
          </a:p>
        </p:txBody>
      </p:sp>
      <p:pic>
        <p:nvPicPr>
          <p:cNvPr id="5" name="Picture 4" descr="Uninformed Search Algorithms"/>
          <p:cNvPicPr/>
          <p:nvPr/>
        </p:nvPicPr>
        <p:blipFill>
          <a:blip r:embed="rId2">
            <a:extLst>
              <a:ext uri="{28A0092B-C50C-407E-A947-70E740481C1C}">
                <a14:useLocalDpi xmlns:a14="http://schemas.microsoft.com/office/drawing/2010/main" val="0"/>
              </a:ext>
            </a:extLst>
          </a:blip>
          <a:srcRect/>
          <a:stretch>
            <a:fillRect/>
          </a:stretch>
        </p:blipFill>
        <p:spPr bwMode="auto">
          <a:xfrm>
            <a:off x="575816" y="2187203"/>
            <a:ext cx="4176463" cy="2808312"/>
          </a:xfrm>
          <a:prstGeom prst="rect">
            <a:avLst/>
          </a:prstGeom>
          <a:noFill/>
          <a:ln>
            <a:noFill/>
          </a:ln>
        </p:spPr>
      </p:pic>
    </p:spTree>
    <p:extLst>
      <p:ext uri="{BB962C8B-B14F-4D97-AF65-F5344CB8AC3E}">
        <p14:creationId xmlns:p14="http://schemas.microsoft.com/office/powerpoint/2010/main" val="175839564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smtClean="0"/>
              <a:t>Depth First Search</a:t>
            </a:r>
            <a:endParaRPr lang="en-US" sz="3200" dirty="0"/>
          </a:p>
        </p:txBody>
      </p:sp>
      <p:sp>
        <p:nvSpPr>
          <p:cNvPr id="3" name="Text Placeholder 2"/>
          <p:cNvSpPr>
            <a:spLocks noGrp="1"/>
          </p:cNvSpPr>
          <p:nvPr>
            <p:ph type="body"/>
          </p:nvPr>
        </p:nvSpPr>
        <p:spPr>
          <a:xfrm>
            <a:off x="305598" y="1286877"/>
            <a:ext cx="8494560" cy="946080"/>
          </a:xfrm>
        </p:spPr>
        <p:txBody>
          <a:bodyPr>
            <a:normAutofit fontScale="85000" lnSpcReduction="20000"/>
          </a:bodyPr>
          <a:lstStyle/>
          <a:p>
            <a:pPr lvl="0"/>
            <a:endParaRPr lang="en-US" sz="1600" dirty="0" smtClean="0"/>
          </a:p>
          <a:p>
            <a:pPr lvl="0"/>
            <a:r>
              <a:rPr lang="en-US" sz="1600" dirty="0" smtClean="0"/>
              <a:t>It starts </a:t>
            </a:r>
            <a:r>
              <a:rPr lang="en-US" sz="1600" dirty="0"/>
              <a:t>from the root node and follows each path to its greatest depth node before moving to the next path.</a:t>
            </a:r>
          </a:p>
          <a:p>
            <a:r>
              <a:rPr lang="en-US" sz="1600" dirty="0"/>
              <a:t>DFS uses a </a:t>
            </a:r>
            <a:r>
              <a:rPr lang="en-US" sz="1600" b="1" dirty="0"/>
              <a:t>stack data structure </a:t>
            </a:r>
            <a:r>
              <a:rPr lang="en-US" sz="1600" dirty="0"/>
              <a:t>for its </a:t>
            </a:r>
            <a:r>
              <a:rPr lang="en-US" sz="1600" dirty="0" smtClean="0"/>
              <a:t>implementation.</a:t>
            </a:r>
          </a:p>
          <a:p>
            <a:endParaRPr lang="en-US" sz="1600" dirty="0" smtClean="0"/>
          </a:p>
          <a:p>
            <a:r>
              <a:rPr lang="en-US" sz="1600" dirty="0"/>
              <a:t>Root node---&gt;Left node ----&gt; right node.</a:t>
            </a:r>
          </a:p>
          <a:p>
            <a:endParaRPr lang="en-US" sz="1600" dirty="0" smtClean="0"/>
          </a:p>
          <a:p>
            <a:endParaRPr lang="en-US" sz="1600" dirty="0"/>
          </a:p>
        </p:txBody>
      </p:sp>
      <p:sp>
        <p:nvSpPr>
          <p:cNvPr id="4" name="Text Placeholder 3"/>
          <p:cNvSpPr>
            <a:spLocks noGrp="1"/>
          </p:cNvSpPr>
          <p:nvPr>
            <p:ph type="body"/>
          </p:nvPr>
        </p:nvSpPr>
        <p:spPr>
          <a:xfrm>
            <a:off x="5059374" y="2907283"/>
            <a:ext cx="4537488" cy="2298002"/>
          </a:xfrm>
        </p:spPr>
        <p:txBody>
          <a:bodyPr/>
          <a:lstStyle/>
          <a:p>
            <a:r>
              <a:rPr lang="en-US" sz="1200" b="1" dirty="0"/>
              <a:t>Completeness:</a:t>
            </a:r>
            <a:r>
              <a:rPr lang="en-US" sz="1200" dirty="0"/>
              <a:t> </a:t>
            </a:r>
            <a:r>
              <a:rPr lang="en-US" sz="1200" dirty="0" smtClean="0"/>
              <a:t>YES, On if m is not Infinity.</a:t>
            </a:r>
          </a:p>
          <a:p>
            <a:endParaRPr lang="en-US" sz="1200" dirty="0"/>
          </a:p>
          <a:p>
            <a:r>
              <a:rPr lang="en-US" sz="1200" b="1" dirty="0" smtClean="0"/>
              <a:t>Optimality</a:t>
            </a:r>
            <a:r>
              <a:rPr lang="en-US" sz="1200" dirty="0" smtClean="0"/>
              <a:t> : NO</a:t>
            </a:r>
          </a:p>
          <a:p>
            <a:endParaRPr lang="en-US" sz="1200" dirty="0" smtClean="0"/>
          </a:p>
          <a:p>
            <a:r>
              <a:rPr lang="en-US" sz="1200" b="1" dirty="0" smtClean="0"/>
              <a:t>Time complexity:  </a:t>
            </a:r>
            <a:r>
              <a:rPr lang="en-US" sz="1200" b="1" dirty="0"/>
              <a:t>T(n)= 1+ n</a:t>
            </a:r>
            <a:r>
              <a:rPr lang="en-US" sz="1200" b="1" baseline="30000" dirty="0"/>
              <a:t>2</a:t>
            </a:r>
            <a:r>
              <a:rPr lang="en-US" sz="1200" b="1" dirty="0"/>
              <a:t>+ n</a:t>
            </a:r>
            <a:r>
              <a:rPr lang="en-US" sz="1200" b="1" baseline="30000" dirty="0"/>
              <a:t>3</a:t>
            </a:r>
            <a:r>
              <a:rPr lang="en-US" sz="1200" b="1" dirty="0"/>
              <a:t> +.........+ n</a:t>
            </a:r>
            <a:r>
              <a:rPr lang="en-US" sz="1200" b="1" baseline="30000" dirty="0"/>
              <a:t>m</a:t>
            </a:r>
            <a:r>
              <a:rPr lang="en-US" sz="1200" b="1" dirty="0"/>
              <a:t>=O(n</a:t>
            </a:r>
            <a:r>
              <a:rPr lang="en-US" sz="1200" b="1" baseline="30000" dirty="0"/>
              <a:t>m</a:t>
            </a:r>
            <a:r>
              <a:rPr lang="en-US" sz="1200" b="1" dirty="0" smtClean="0"/>
              <a:t>)</a:t>
            </a:r>
          </a:p>
          <a:p>
            <a:endParaRPr lang="en-US" sz="1200" b="1" dirty="0" smtClean="0"/>
          </a:p>
          <a:p>
            <a:r>
              <a:rPr lang="en-US" sz="1200" b="1" dirty="0" smtClean="0"/>
              <a:t>Space complexity:  </a:t>
            </a:r>
            <a:r>
              <a:rPr lang="en-US" sz="1200" b="1" dirty="0"/>
              <a:t>O(</a:t>
            </a:r>
            <a:r>
              <a:rPr lang="en-US" sz="1200" b="1" dirty="0" err="1"/>
              <a:t>bm</a:t>
            </a:r>
            <a:r>
              <a:rPr lang="en-US" sz="1200" b="1" dirty="0" smtClean="0"/>
              <a:t>)</a:t>
            </a:r>
            <a:r>
              <a:rPr lang="en-US" sz="1200" dirty="0" smtClean="0"/>
              <a:t> (stores </a:t>
            </a:r>
            <a:r>
              <a:rPr lang="en-US" sz="1200" dirty="0"/>
              <a:t>only single path from the root node, </a:t>
            </a:r>
            <a:r>
              <a:rPr lang="en-US" sz="1200" dirty="0" smtClean="0"/>
              <a:t>)</a:t>
            </a:r>
            <a:endParaRPr lang="en-US" sz="1200" dirty="0"/>
          </a:p>
          <a:p>
            <a:endParaRPr lang="en-US" dirty="0"/>
          </a:p>
        </p:txBody>
      </p:sp>
      <p:pic>
        <p:nvPicPr>
          <p:cNvPr id="5" name="Picture 4" descr="Uninformed Search Algorithms"/>
          <p:cNvPicPr/>
          <p:nvPr/>
        </p:nvPicPr>
        <p:blipFill>
          <a:blip r:embed="rId3">
            <a:extLst>
              <a:ext uri="{28A0092B-C50C-407E-A947-70E740481C1C}">
                <a14:useLocalDpi xmlns:a14="http://schemas.microsoft.com/office/drawing/2010/main" val="0"/>
              </a:ext>
            </a:extLst>
          </a:blip>
          <a:srcRect/>
          <a:stretch>
            <a:fillRect/>
          </a:stretch>
        </p:blipFill>
        <p:spPr bwMode="auto">
          <a:xfrm>
            <a:off x="287784" y="2907283"/>
            <a:ext cx="4104456" cy="2448272"/>
          </a:xfrm>
          <a:prstGeom prst="rect">
            <a:avLst/>
          </a:prstGeom>
          <a:noFill/>
          <a:ln>
            <a:noFill/>
          </a:ln>
        </p:spPr>
      </p:pic>
      <p:sp>
        <p:nvSpPr>
          <p:cNvPr id="6" name="TextBox 5"/>
          <p:cNvSpPr txBox="1"/>
          <p:nvPr/>
        </p:nvSpPr>
        <p:spPr>
          <a:xfrm>
            <a:off x="5040312" y="2513532"/>
            <a:ext cx="4176464" cy="369332"/>
          </a:xfrm>
          <a:prstGeom prst="rect">
            <a:avLst/>
          </a:prstGeom>
          <a:noFill/>
        </p:spPr>
        <p:txBody>
          <a:bodyPr wrap="square" rtlCol="0">
            <a:spAutoFit/>
          </a:bodyPr>
          <a:lstStyle/>
          <a:p>
            <a:r>
              <a:rPr lang="en-US" dirty="0" smtClean="0"/>
              <a:t>Order=&gt; S</a:t>
            </a:r>
            <a:r>
              <a:rPr lang="en-US" dirty="0"/>
              <a:t>, </a:t>
            </a:r>
            <a:r>
              <a:rPr lang="en-US" dirty="0" smtClean="0"/>
              <a:t>A</a:t>
            </a:r>
            <a:r>
              <a:rPr lang="en-US" dirty="0"/>
              <a:t>, </a:t>
            </a:r>
            <a:r>
              <a:rPr lang="en-US" dirty="0" smtClean="0"/>
              <a:t>B</a:t>
            </a:r>
            <a:r>
              <a:rPr lang="en-US" dirty="0"/>
              <a:t>, </a:t>
            </a:r>
            <a:r>
              <a:rPr lang="en-US" dirty="0" smtClean="0"/>
              <a:t>D ,E</a:t>
            </a:r>
            <a:r>
              <a:rPr lang="en-US" dirty="0"/>
              <a:t>, </a:t>
            </a:r>
            <a:r>
              <a:rPr lang="en-US" dirty="0" smtClean="0"/>
              <a:t>E,</a:t>
            </a:r>
            <a:r>
              <a:rPr lang="en-US" dirty="0"/>
              <a:t> </a:t>
            </a:r>
            <a:r>
              <a:rPr lang="en-US" dirty="0" smtClean="0"/>
              <a:t>C,</a:t>
            </a:r>
            <a:r>
              <a:rPr lang="en-US" dirty="0"/>
              <a:t> </a:t>
            </a:r>
            <a:r>
              <a:rPr lang="en-US" dirty="0" smtClean="0">
                <a:solidFill>
                  <a:srgbClr val="00B050"/>
                </a:solidFill>
              </a:rPr>
              <a:t>G</a:t>
            </a:r>
          </a:p>
        </p:txBody>
      </p:sp>
    </p:spTree>
    <p:extLst>
      <p:ext uri="{BB962C8B-B14F-4D97-AF65-F5344CB8AC3E}">
        <p14:creationId xmlns:p14="http://schemas.microsoft.com/office/powerpoint/2010/main" val="198857492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b="1" dirty="0"/>
              <a:t>Depth-Limited </a:t>
            </a:r>
            <a:r>
              <a:rPr lang="en-US" sz="3200" b="1" dirty="0" smtClean="0"/>
              <a:t>Search</a:t>
            </a:r>
            <a:endParaRPr lang="en-US" sz="3200" dirty="0"/>
          </a:p>
        </p:txBody>
      </p:sp>
      <p:sp>
        <p:nvSpPr>
          <p:cNvPr id="3" name="Text Placeholder 2"/>
          <p:cNvSpPr>
            <a:spLocks noGrp="1"/>
          </p:cNvSpPr>
          <p:nvPr>
            <p:ph type="body"/>
          </p:nvPr>
        </p:nvSpPr>
        <p:spPr>
          <a:xfrm>
            <a:off x="647824" y="1107083"/>
            <a:ext cx="8784976" cy="1008112"/>
          </a:xfrm>
        </p:spPr>
        <p:txBody>
          <a:bodyPr/>
          <a:lstStyle/>
          <a:p>
            <a:r>
              <a:rPr lang="en-US" dirty="0"/>
              <a:t>A depth-limited search algorithm is similar to depth-first search with a </a:t>
            </a:r>
            <a:r>
              <a:rPr lang="en-US" dirty="0" smtClean="0"/>
              <a:t>predetermined depth limit (cut off)  .</a:t>
            </a:r>
          </a:p>
          <a:p>
            <a:endParaRPr lang="en-US" dirty="0"/>
          </a:p>
        </p:txBody>
      </p:sp>
      <p:pic>
        <p:nvPicPr>
          <p:cNvPr id="5" name="Picture 4" descr="Uninformed Search Algorithms"/>
          <p:cNvPicPr/>
          <p:nvPr/>
        </p:nvPicPr>
        <p:blipFill>
          <a:blip r:embed="rId2">
            <a:extLst>
              <a:ext uri="{28A0092B-C50C-407E-A947-70E740481C1C}">
                <a14:useLocalDpi xmlns:a14="http://schemas.microsoft.com/office/drawing/2010/main" val="0"/>
              </a:ext>
            </a:extLst>
          </a:blip>
          <a:srcRect/>
          <a:stretch>
            <a:fillRect/>
          </a:stretch>
        </p:blipFill>
        <p:spPr bwMode="auto">
          <a:xfrm>
            <a:off x="71760" y="2331219"/>
            <a:ext cx="4392488" cy="2800618"/>
          </a:xfrm>
          <a:prstGeom prst="rect">
            <a:avLst/>
          </a:prstGeom>
          <a:noFill/>
          <a:ln>
            <a:noFill/>
          </a:ln>
        </p:spPr>
      </p:pic>
      <p:sp>
        <p:nvSpPr>
          <p:cNvPr id="6" name="Rectangle 5"/>
          <p:cNvSpPr/>
          <p:nvPr/>
        </p:nvSpPr>
        <p:spPr>
          <a:xfrm>
            <a:off x="4784174" y="2986841"/>
            <a:ext cx="5038725" cy="2031325"/>
          </a:xfrm>
          <a:prstGeom prst="rect">
            <a:avLst/>
          </a:prstGeom>
        </p:spPr>
        <p:txBody>
          <a:bodyPr>
            <a:spAutoFit/>
          </a:bodyPr>
          <a:lstStyle/>
          <a:p>
            <a:r>
              <a:rPr lang="en-US" b="1" dirty="0"/>
              <a:t>Completeness</a:t>
            </a:r>
            <a:r>
              <a:rPr lang="en-US" b="1" dirty="0" smtClean="0"/>
              <a:t>:</a:t>
            </a:r>
            <a:r>
              <a:rPr lang="en-US" dirty="0" smtClean="0"/>
              <a:t> </a:t>
            </a:r>
            <a:r>
              <a:rPr lang="en-US" dirty="0"/>
              <a:t>if the solution is above the depth-limit</a:t>
            </a:r>
            <a:r>
              <a:rPr lang="en-US" dirty="0" smtClean="0"/>
              <a:t>. d&lt;ℓ</a:t>
            </a:r>
            <a:endParaRPr lang="en-US" dirty="0"/>
          </a:p>
          <a:p>
            <a:r>
              <a:rPr lang="en-US" b="1" dirty="0"/>
              <a:t>Time Complexity:</a:t>
            </a:r>
            <a:r>
              <a:rPr lang="en-US" dirty="0"/>
              <a:t>  </a:t>
            </a:r>
            <a:r>
              <a:rPr lang="en-US" b="1" dirty="0"/>
              <a:t>O(b</a:t>
            </a:r>
            <a:r>
              <a:rPr lang="en-US" b="1" baseline="30000" dirty="0"/>
              <a:t>ℓ</a:t>
            </a:r>
            <a:r>
              <a:rPr lang="en-US" b="1" dirty="0"/>
              <a:t>)</a:t>
            </a:r>
            <a:r>
              <a:rPr lang="en-US" dirty="0"/>
              <a:t>.</a:t>
            </a:r>
          </a:p>
          <a:p>
            <a:r>
              <a:rPr lang="en-US" b="1" dirty="0"/>
              <a:t>Space Complexity</a:t>
            </a:r>
            <a:r>
              <a:rPr lang="en-US" b="1" dirty="0" smtClean="0"/>
              <a:t>:</a:t>
            </a:r>
            <a:r>
              <a:rPr lang="en-US" dirty="0" smtClean="0"/>
              <a:t> </a:t>
            </a:r>
            <a:r>
              <a:rPr lang="en-US" dirty="0"/>
              <a:t>O</a:t>
            </a:r>
            <a:r>
              <a:rPr lang="en-US" b="1" dirty="0"/>
              <a:t>(b×ℓ)</a:t>
            </a:r>
            <a:r>
              <a:rPr lang="en-US" dirty="0"/>
              <a:t>.</a:t>
            </a:r>
          </a:p>
          <a:p>
            <a:r>
              <a:rPr lang="en-US" b="1" dirty="0"/>
              <a:t>Optimal:</a:t>
            </a:r>
            <a:r>
              <a:rPr lang="en-US" dirty="0"/>
              <a:t> Depth-limited search can be viewed as a special case of DFS, and it is also not optimal </a:t>
            </a:r>
            <a:r>
              <a:rPr lang="en-US" dirty="0" smtClean="0"/>
              <a:t>when  </a:t>
            </a:r>
            <a:r>
              <a:rPr lang="en-US" dirty="0"/>
              <a:t>if ℓ&gt;d.</a:t>
            </a:r>
          </a:p>
        </p:txBody>
      </p:sp>
    </p:spTree>
    <p:extLst>
      <p:ext uri="{BB962C8B-B14F-4D97-AF65-F5344CB8AC3E}">
        <p14:creationId xmlns:p14="http://schemas.microsoft.com/office/powerpoint/2010/main" val="104941677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smtClean="0"/>
              <a:t>Uniform cost search</a:t>
            </a:r>
            <a:endParaRPr lang="en-US" sz="3200" dirty="0"/>
          </a:p>
        </p:txBody>
      </p:sp>
      <p:sp>
        <p:nvSpPr>
          <p:cNvPr id="3" name="Subtitle 2"/>
          <p:cNvSpPr>
            <a:spLocks noGrp="1"/>
          </p:cNvSpPr>
          <p:nvPr>
            <p:ph type="subTitle"/>
          </p:nvPr>
        </p:nvSpPr>
        <p:spPr>
          <a:xfrm>
            <a:off x="5976416" y="891059"/>
            <a:ext cx="3816424" cy="4291861"/>
          </a:xfrm>
        </p:spPr>
        <p:txBody>
          <a:bodyPr/>
          <a:lstStyle/>
          <a:p>
            <a:r>
              <a:rPr lang="en-US" dirty="0"/>
              <a:t>Uniform-cost search is a searching algorithm used for traversing a weighted tree or graph. This algorithm comes into play when a different cost is available for each edge. The primary goal of the uniform-cost search is to find a path to the goal node which has the lowest cumulative cost</a:t>
            </a:r>
            <a:r>
              <a:rPr lang="en-US" dirty="0" smtClean="0"/>
              <a:t>.</a:t>
            </a:r>
          </a:p>
          <a:p>
            <a:endParaRPr lang="en-US" dirty="0"/>
          </a:p>
          <a:p>
            <a:endParaRPr lang="en-US" dirty="0" smtClean="0"/>
          </a:p>
          <a:p>
            <a:endParaRPr lang="en-US" dirty="0"/>
          </a:p>
          <a:p>
            <a:endParaRPr lang="en-US" dirty="0" smtClean="0"/>
          </a:p>
          <a:p>
            <a:endParaRPr lang="en-US" dirty="0"/>
          </a:p>
        </p:txBody>
      </p:sp>
      <p:pic>
        <p:nvPicPr>
          <p:cNvPr id="5" name="Picture 4" descr="Uninformed Search Algorithms"/>
          <p:cNvPicPr/>
          <p:nvPr/>
        </p:nvPicPr>
        <p:blipFill>
          <a:blip r:embed="rId2">
            <a:extLst>
              <a:ext uri="{28A0092B-C50C-407E-A947-70E740481C1C}">
                <a14:useLocalDpi xmlns:a14="http://schemas.microsoft.com/office/drawing/2010/main" val="0"/>
              </a:ext>
            </a:extLst>
          </a:blip>
          <a:srcRect/>
          <a:stretch>
            <a:fillRect/>
          </a:stretch>
        </p:blipFill>
        <p:spPr bwMode="auto">
          <a:xfrm>
            <a:off x="474788" y="1107083"/>
            <a:ext cx="4763135" cy="3808730"/>
          </a:xfrm>
          <a:prstGeom prst="rect">
            <a:avLst/>
          </a:prstGeom>
          <a:noFill/>
          <a:ln>
            <a:noFill/>
          </a:ln>
        </p:spPr>
      </p:pic>
    </p:spTree>
    <p:extLst>
      <p:ext uri="{BB962C8B-B14F-4D97-AF65-F5344CB8AC3E}">
        <p14:creationId xmlns:p14="http://schemas.microsoft.com/office/powerpoint/2010/main" val="123558403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r>
              <a:rPr lang="en-US" b="1" dirty="0" smtClean="0"/>
              <a:t>Uniform Cost Search  evaluation</a:t>
            </a:r>
            <a:endParaRPr lang="en-US" b="1" dirty="0"/>
          </a:p>
        </p:txBody>
      </p:sp>
      <p:sp>
        <p:nvSpPr>
          <p:cNvPr id="3" name="Subtitle 2"/>
          <p:cNvSpPr>
            <a:spLocks noGrp="1"/>
          </p:cNvSpPr>
          <p:nvPr>
            <p:ph type="subTitle"/>
          </p:nvPr>
        </p:nvSpPr>
        <p:spPr/>
        <p:txBody>
          <a:bodyPr/>
          <a:lstStyle/>
          <a:p>
            <a:endParaRPr lang="en-US" b="1" dirty="0" smtClean="0"/>
          </a:p>
          <a:p>
            <a:endParaRPr lang="en-US" b="1" dirty="0"/>
          </a:p>
          <a:p>
            <a:endParaRPr lang="en-US" b="1" dirty="0" smtClean="0"/>
          </a:p>
          <a:p>
            <a:endParaRPr lang="en-US" b="1" dirty="0"/>
          </a:p>
          <a:p>
            <a:endParaRPr lang="en-US" b="1" dirty="0" smtClean="0"/>
          </a:p>
          <a:p>
            <a:endParaRPr lang="en-US" b="1" dirty="0"/>
          </a:p>
          <a:p>
            <a:endParaRPr lang="en-US" b="1" dirty="0" smtClean="0"/>
          </a:p>
          <a:p>
            <a:endParaRPr lang="en-US" b="1" dirty="0"/>
          </a:p>
          <a:p>
            <a:endParaRPr lang="en-US" b="1" dirty="0" smtClean="0"/>
          </a:p>
          <a:p>
            <a:endParaRPr lang="en-US" b="1" dirty="0"/>
          </a:p>
          <a:p>
            <a:endParaRPr lang="en-US" b="1" dirty="0" smtClean="0"/>
          </a:p>
          <a:p>
            <a:endParaRPr lang="en-US" b="1" dirty="0"/>
          </a:p>
          <a:p>
            <a:endParaRPr lang="en-US" b="1" dirty="0" smtClean="0"/>
          </a:p>
          <a:p>
            <a:endParaRPr lang="en-US" b="1" dirty="0"/>
          </a:p>
          <a:p>
            <a:endParaRPr lang="en-US" b="1" dirty="0" smtClean="0"/>
          </a:p>
          <a:p>
            <a:endParaRPr lang="en-US" b="1" dirty="0"/>
          </a:p>
          <a:p>
            <a:endParaRPr lang="en-US" b="1" dirty="0" smtClean="0"/>
          </a:p>
          <a:p>
            <a:endParaRPr lang="en-US" b="1" dirty="0"/>
          </a:p>
          <a:p>
            <a:endParaRPr lang="en-US" b="1" dirty="0" smtClean="0"/>
          </a:p>
          <a:p>
            <a:endParaRPr lang="en-US" b="1" dirty="0"/>
          </a:p>
          <a:p>
            <a:r>
              <a:rPr lang="en-US" b="1" dirty="0" smtClean="0"/>
              <a:t>Completeness</a:t>
            </a:r>
            <a:r>
              <a:rPr lang="en-US" b="1" dirty="0"/>
              <a:t>:</a:t>
            </a:r>
            <a:endParaRPr lang="en-US" dirty="0"/>
          </a:p>
          <a:p>
            <a:r>
              <a:rPr lang="en-US" dirty="0"/>
              <a:t>Uniform-cost search is </a:t>
            </a:r>
            <a:r>
              <a:rPr lang="en-US" dirty="0" smtClean="0"/>
              <a:t>complete. UCS </a:t>
            </a:r>
            <a:r>
              <a:rPr lang="en-US" dirty="0"/>
              <a:t>will find </a:t>
            </a:r>
            <a:r>
              <a:rPr lang="en-US" dirty="0" smtClean="0"/>
              <a:t>it, if there exists one</a:t>
            </a:r>
            <a:endParaRPr lang="en-US" dirty="0"/>
          </a:p>
          <a:p>
            <a:r>
              <a:rPr lang="en-US" b="1" dirty="0"/>
              <a:t>Time Complexity:</a:t>
            </a:r>
            <a:endParaRPr lang="en-US" dirty="0"/>
          </a:p>
          <a:p>
            <a:r>
              <a:rPr lang="en-US" dirty="0"/>
              <a:t>Let C* </a:t>
            </a:r>
            <a:r>
              <a:rPr lang="en-US" b="1" dirty="0"/>
              <a:t>is Cost of the optimal solution</a:t>
            </a:r>
            <a:r>
              <a:rPr lang="en-US" dirty="0"/>
              <a:t>, and </a:t>
            </a:r>
            <a:r>
              <a:rPr lang="en-US" b="1" dirty="0"/>
              <a:t>ε</a:t>
            </a:r>
            <a:r>
              <a:rPr lang="en-US" dirty="0"/>
              <a:t> is each step to get closer to the goal node. Then the number of steps is = C*/ε+1. Here we have taken +1, as we start from state 0 and end to C*/ε.</a:t>
            </a:r>
          </a:p>
          <a:p>
            <a:r>
              <a:rPr lang="en-US" dirty="0"/>
              <a:t>Hence, the worst-case time complexity of Uniform-cost search </a:t>
            </a:r>
            <a:r>
              <a:rPr lang="en-US" dirty="0" err="1"/>
              <a:t>is</a:t>
            </a:r>
            <a:r>
              <a:rPr lang="en-US" b="1" dirty="0" err="1"/>
              <a:t>O</a:t>
            </a:r>
            <a:r>
              <a:rPr lang="en-US" b="1" dirty="0"/>
              <a:t>(b</a:t>
            </a:r>
            <a:r>
              <a:rPr lang="en-US" b="1" baseline="30000" dirty="0"/>
              <a:t>1 + [C*/ε]</a:t>
            </a:r>
            <a:r>
              <a:rPr lang="en-US" b="1" dirty="0"/>
              <a:t>)/</a:t>
            </a:r>
            <a:r>
              <a:rPr lang="en-US" dirty="0"/>
              <a:t>.</a:t>
            </a:r>
          </a:p>
          <a:p>
            <a:r>
              <a:rPr lang="en-US" b="1" dirty="0"/>
              <a:t>Space Complexity:</a:t>
            </a:r>
            <a:endParaRPr lang="en-US" dirty="0"/>
          </a:p>
          <a:p>
            <a:r>
              <a:rPr lang="en-US" dirty="0"/>
              <a:t>The same logic is for space complexity so, the worst-case space complexity of Uniform-cost search is </a:t>
            </a:r>
            <a:r>
              <a:rPr lang="en-US" b="1" dirty="0"/>
              <a:t>O(b</a:t>
            </a:r>
            <a:r>
              <a:rPr lang="en-US" b="1" baseline="30000" dirty="0"/>
              <a:t>1 + [C*/ε]</a:t>
            </a:r>
            <a:r>
              <a:rPr lang="en-US" b="1" dirty="0"/>
              <a:t>)</a:t>
            </a:r>
            <a:r>
              <a:rPr lang="en-US" dirty="0"/>
              <a:t>.</a:t>
            </a:r>
          </a:p>
          <a:p>
            <a:r>
              <a:rPr lang="en-US" b="1" dirty="0"/>
              <a:t>Optimal:</a:t>
            </a:r>
            <a:endParaRPr lang="en-US" dirty="0"/>
          </a:p>
          <a:p>
            <a:r>
              <a:rPr lang="en-US" dirty="0"/>
              <a:t>Uniform-cost search is always optimal as it only selects a path with the lowest path cost.</a:t>
            </a:r>
          </a:p>
          <a:p>
            <a:endParaRPr lang="en-US" dirty="0"/>
          </a:p>
        </p:txBody>
      </p:sp>
    </p:spTree>
    <p:extLst>
      <p:ext uri="{BB962C8B-B14F-4D97-AF65-F5344CB8AC3E}">
        <p14:creationId xmlns:p14="http://schemas.microsoft.com/office/powerpoint/2010/main" val="272061857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smtClean="0"/>
              <a:t>Iterative </a:t>
            </a:r>
            <a:r>
              <a:rPr lang="en-US" sz="3200" dirty="0"/>
              <a:t>deepening</a:t>
            </a:r>
            <a:r>
              <a:rPr lang="en-US" sz="3200" b="1" dirty="0"/>
              <a:t> </a:t>
            </a:r>
            <a:r>
              <a:rPr lang="en-US" sz="3200" dirty="0"/>
              <a:t>depth-first Search</a:t>
            </a:r>
          </a:p>
        </p:txBody>
      </p:sp>
      <p:sp>
        <p:nvSpPr>
          <p:cNvPr id="4" name="Text Placeholder 3"/>
          <p:cNvSpPr>
            <a:spLocks noGrp="1"/>
          </p:cNvSpPr>
          <p:nvPr>
            <p:ph type="body"/>
          </p:nvPr>
        </p:nvSpPr>
        <p:spPr/>
        <p:txBody>
          <a:bodyPr/>
          <a:lstStyle/>
          <a:p>
            <a:endParaRPr lang="en-US" sz="1400" dirty="0" smtClean="0"/>
          </a:p>
          <a:p>
            <a:endParaRPr lang="en-US" sz="1400" dirty="0"/>
          </a:p>
          <a:p>
            <a:endParaRPr lang="en-US" sz="1400" dirty="0" smtClean="0"/>
          </a:p>
          <a:p>
            <a:endParaRPr lang="en-US" sz="1400" dirty="0"/>
          </a:p>
          <a:p>
            <a:endParaRPr lang="en-US" sz="1400" dirty="0" smtClean="0"/>
          </a:p>
          <a:p>
            <a:endParaRPr lang="en-US" sz="1400" dirty="0"/>
          </a:p>
          <a:p>
            <a:endParaRPr lang="en-US" sz="1400" dirty="0" smtClean="0"/>
          </a:p>
          <a:p>
            <a:endParaRPr lang="en-US" sz="1400" dirty="0"/>
          </a:p>
          <a:p>
            <a:endParaRPr lang="en-US" sz="1400" dirty="0" smtClean="0"/>
          </a:p>
          <a:p>
            <a:endParaRPr lang="en-US" sz="1400" dirty="0"/>
          </a:p>
          <a:p>
            <a:endParaRPr lang="en-US" sz="1400" dirty="0" smtClean="0"/>
          </a:p>
          <a:p>
            <a:endParaRPr lang="en-US" sz="1400" dirty="0"/>
          </a:p>
          <a:p>
            <a:endParaRPr lang="en-US" sz="1400" dirty="0" smtClean="0"/>
          </a:p>
          <a:p>
            <a:endParaRPr lang="en-US" sz="1400" dirty="0"/>
          </a:p>
          <a:p>
            <a:endParaRPr lang="en-US" sz="1400" dirty="0" smtClean="0"/>
          </a:p>
          <a:p>
            <a:endParaRPr lang="en-US" sz="1400" dirty="0"/>
          </a:p>
          <a:p>
            <a:endParaRPr lang="en-US" sz="1400" dirty="0" smtClean="0"/>
          </a:p>
          <a:p>
            <a:endParaRPr lang="en-US" sz="1400" dirty="0"/>
          </a:p>
          <a:p>
            <a:endParaRPr lang="en-US" sz="1400" dirty="0" smtClean="0"/>
          </a:p>
          <a:p>
            <a:endParaRPr lang="en-US" sz="1400" dirty="0"/>
          </a:p>
          <a:p>
            <a:endParaRPr lang="en-US" sz="1400" dirty="0" smtClean="0"/>
          </a:p>
          <a:p>
            <a:r>
              <a:rPr lang="en-US" sz="1400" dirty="0" smtClean="0"/>
              <a:t>The </a:t>
            </a:r>
            <a:r>
              <a:rPr lang="en-US" sz="1400" dirty="0"/>
              <a:t>iterative deepening algorithm is a combination of DFS and BFS algorithms. This search algorithm finds out the best depth limit and does it by gradually increasing the limit until a goal is found.</a:t>
            </a:r>
          </a:p>
          <a:p>
            <a:endParaRPr lang="en-US" sz="1400" dirty="0" smtClean="0"/>
          </a:p>
          <a:p>
            <a:r>
              <a:rPr lang="en-US" sz="1400" dirty="0"/>
              <a:t>This Search algorithm combines the benefits of Breadth-first search's fast search and depth-first search's memory efficiency</a:t>
            </a:r>
            <a:r>
              <a:rPr lang="en-US" sz="1400" dirty="0" smtClean="0"/>
              <a:t>.</a:t>
            </a:r>
          </a:p>
          <a:p>
            <a:endParaRPr lang="en-US" sz="1400" dirty="0"/>
          </a:p>
          <a:p>
            <a:r>
              <a:rPr lang="en-US" sz="1400" dirty="0"/>
              <a:t>1'st Iteration-----&gt; A</a:t>
            </a:r>
            <a:br>
              <a:rPr lang="en-US" sz="1400" dirty="0"/>
            </a:br>
            <a:r>
              <a:rPr lang="en-US" sz="1400" dirty="0"/>
              <a:t>2'nd Iteration----&gt; A, B, C</a:t>
            </a:r>
            <a:br>
              <a:rPr lang="en-US" sz="1400" dirty="0"/>
            </a:br>
            <a:r>
              <a:rPr lang="en-US" sz="1400" dirty="0"/>
              <a:t>3'rd Iteration------&gt;A, B, D, E, C, F, G</a:t>
            </a:r>
            <a:br>
              <a:rPr lang="en-US" sz="1400" dirty="0"/>
            </a:br>
            <a:r>
              <a:rPr lang="en-US" sz="1400" dirty="0"/>
              <a:t>4'th Iteration------&gt;A, B, D, H, I, E, C, F, K, G</a:t>
            </a:r>
            <a:br>
              <a:rPr lang="en-US" sz="1400" dirty="0"/>
            </a:br>
            <a:r>
              <a:rPr lang="en-US" sz="1400" dirty="0"/>
              <a:t>In the fourth iteration, the algorithm will find the goal node.</a:t>
            </a:r>
            <a:endParaRPr lang="en-US" sz="1400" dirty="0" smtClean="0"/>
          </a:p>
          <a:p>
            <a:endParaRPr lang="en-US" dirty="0"/>
          </a:p>
          <a:p>
            <a:endParaRPr lang="en-US" dirty="0"/>
          </a:p>
        </p:txBody>
      </p:sp>
      <p:pic>
        <p:nvPicPr>
          <p:cNvPr id="6" name="Picture 5" descr="Uninformed Search Algorithms"/>
          <p:cNvPicPr/>
          <p:nvPr/>
        </p:nvPicPr>
        <p:blipFill>
          <a:blip r:embed="rId2">
            <a:extLst>
              <a:ext uri="{28A0092B-C50C-407E-A947-70E740481C1C}">
                <a14:useLocalDpi xmlns:a14="http://schemas.microsoft.com/office/drawing/2010/main" val="0"/>
              </a:ext>
            </a:extLst>
          </a:blip>
          <a:srcRect/>
          <a:stretch>
            <a:fillRect/>
          </a:stretch>
        </p:blipFill>
        <p:spPr bwMode="auto">
          <a:xfrm>
            <a:off x="6552480" y="2403228"/>
            <a:ext cx="3755023" cy="2808312"/>
          </a:xfrm>
          <a:prstGeom prst="rect">
            <a:avLst/>
          </a:prstGeom>
          <a:noFill/>
          <a:ln>
            <a:noFill/>
          </a:ln>
        </p:spPr>
      </p:pic>
    </p:spTree>
    <p:extLst>
      <p:ext uri="{BB962C8B-B14F-4D97-AF65-F5344CB8AC3E}">
        <p14:creationId xmlns:p14="http://schemas.microsoft.com/office/powerpoint/2010/main" val="324188409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r>
              <a:rPr lang="en-US" dirty="0" smtClean="0"/>
              <a:t>   </a:t>
            </a:r>
            <a:r>
              <a:rPr lang="en-US" sz="3200" dirty="0" smtClean="0"/>
              <a:t>IDIDS Evaluation</a:t>
            </a:r>
            <a:endParaRPr lang="en-US" sz="3200" dirty="0"/>
          </a:p>
        </p:txBody>
      </p:sp>
      <p:sp>
        <p:nvSpPr>
          <p:cNvPr id="3" name="Text Placeholder 2"/>
          <p:cNvSpPr>
            <a:spLocks noGrp="1"/>
          </p:cNvSpPr>
          <p:nvPr>
            <p:ph type="body"/>
          </p:nvPr>
        </p:nvSpPr>
        <p:spPr>
          <a:xfrm>
            <a:off x="503640" y="1326240"/>
            <a:ext cx="8857152" cy="3856680"/>
          </a:xfrm>
        </p:spPr>
        <p:txBody>
          <a:bodyPr/>
          <a:lstStyle/>
          <a:p>
            <a:r>
              <a:rPr lang="en-US" b="1" dirty="0"/>
              <a:t>Completeness:</a:t>
            </a:r>
            <a:endParaRPr lang="en-US" dirty="0"/>
          </a:p>
          <a:p>
            <a:r>
              <a:rPr lang="en-US" dirty="0"/>
              <a:t>This algorithm is complete is </a:t>
            </a:r>
            <a:r>
              <a:rPr lang="en-US" dirty="0" smtClean="0"/>
              <a:t>If the </a:t>
            </a:r>
            <a:r>
              <a:rPr lang="en-US" dirty="0"/>
              <a:t>branching factor is finite.</a:t>
            </a:r>
          </a:p>
          <a:p>
            <a:r>
              <a:rPr lang="en-US" b="1" dirty="0"/>
              <a:t>Time Complexity:</a:t>
            </a:r>
            <a:endParaRPr lang="en-US" dirty="0"/>
          </a:p>
          <a:p>
            <a:r>
              <a:rPr lang="en-US" dirty="0"/>
              <a:t>Let's suppose b is the branching factor and depth is d then the worst-case time complexity is </a:t>
            </a:r>
            <a:r>
              <a:rPr lang="en-US" b="1" dirty="0"/>
              <a:t>O(</a:t>
            </a:r>
            <a:r>
              <a:rPr lang="en-US" b="1" dirty="0" err="1"/>
              <a:t>b</a:t>
            </a:r>
            <a:r>
              <a:rPr lang="en-US" b="1" baseline="30000" dirty="0" err="1"/>
              <a:t>d</a:t>
            </a:r>
            <a:r>
              <a:rPr lang="en-US" b="1" dirty="0"/>
              <a:t>)</a:t>
            </a:r>
            <a:r>
              <a:rPr lang="en-US" dirty="0"/>
              <a:t>.</a:t>
            </a:r>
          </a:p>
          <a:p>
            <a:r>
              <a:rPr lang="en-US" b="1" dirty="0"/>
              <a:t>Space Complexity:</a:t>
            </a:r>
            <a:endParaRPr lang="en-US" dirty="0"/>
          </a:p>
          <a:p>
            <a:r>
              <a:rPr lang="en-US" dirty="0"/>
              <a:t>The space complexity of IDDFS will be </a:t>
            </a:r>
            <a:r>
              <a:rPr lang="en-US" b="1" dirty="0"/>
              <a:t>O(</a:t>
            </a:r>
            <a:r>
              <a:rPr lang="en-US" b="1" dirty="0" err="1"/>
              <a:t>bd</a:t>
            </a:r>
            <a:r>
              <a:rPr lang="en-US" b="1" dirty="0"/>
              <a:t>)</a:t>
            </a:r>
            <a:r>
              <a:rPr lang="en-US" dirty="0"/>
              <a:t>.</a:t>
            </a:r>
          </a:p>
          <a:p>
            <a:r>
              <a:rPr lang="en-US" b="1" dirty="0"/>
              <a:t>Optimal:</a:t>
            </a:r>
            <a:endParaRPr lang="en-US" dirty="0"/>
          </a:p>
          <a:p>
            <a:r>
              <a:rPr lang="en-US" dirty="0"/>
              <a:t>IDDFS algorithm is optimal if path cost is a non- decreasing function of the depth of the node.</a:t>
            </a:r>
          </a:p>
          <a:p>
            <a:endParaRPr lang="en-US" dirty="0"/>
          </a:p>
        </p:txBody>
      </p:sp>
    </p:spTree>
    <p:extLst>
      <p:ext uri="{BB962C8B-B14F-4D97-AF65-F5344CB8AC3E}">
        <p14:creationId xmlns:p14="http://schemas.microsoft.com/office/powerpoint/2010/main" val="355624209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smtClean="0"/>
              <a:t>Bidirectional  search</a:t>
            </a:r>
            <a:endParaRPr lang="en-US" sz="3200" dirty="0"/>
          </a:p>
        </p:txBody>
      </p:sp>
      <p:sp>
        <p:nvSpPr>
          <p:cNvPr id="4" name="Text Placeholder 3"/>
          <p:cNvSpPr>
            <a:spLocks noGrp="1"/>
          </p:cNvSpPr>
          <p:nvPr>
            <p:ph type="body"/>
          </p:nvPr>
        </p:nvSpPr>
        <p:spPr/>
        <p:txBody>
          <a:bodyPr/>
          <a:lstStyle/>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r>
              <a:rPr lang="en-US" dirty="0" smtClean="0"/>
              <a:t>Bidirectional </a:t>
            </a:r>
            <a:r>
              <a:rPr lang="en-US" dirty="0"/>
              <a:t>search algorithm runs two simultaneous searches, one form initial state called as forward-search and other from goal node called as backward-search, to find the goal node</a:t>
            </a:r>
            <a:r>
              <a:rPr lang="en-US" b="1" dirty="0" smtClean="0"/>
              <a:t>.</a:t>
            </a:r>
          </a:p>
          <a:p>
            <a:endParaRPr lang="en-US" b="1" dirty="0" smtClean="0"/>
          </a:p>
          <a:p>
            <a:r>
              <a:rPr lang="en-US" dirty="0"/>
              <a:t>This algorithm divides one graph/tree into two sub-graphs. It starts traversing from node 1 in the forward direction and starts from goal node 16 in the backward direction</a:t>
            </a:r>
            <a:r>
              <a:rPr lang="en-US" dirty="0" smtClean="0"/>
              <a:t>.</a:t>
            </a:r>
          </a:p>
          <a:p>
            <a:endParaRPr lang="en-US" dirty="0"/>
          </a:p>
          <a:p>
            <a:endParaRPr lang="en-US" dirty="0"/>
          </a:p>
        </p:txBody>
      </p:sp>
    </p:spTree>
    <p:extLst>
      <p:ext uri="{BB962C8B-B14F-4D97-AF65-F5344CB8AC3E}">
        <p14:creationId xmlns:p14="http://schemas.microsoft.com/office/powerpoint/2010/main" val="169823090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p:nvPr>
        </p:nvSpPr>
        <p:spPr/>
        <p:txBody>
          <a:bodyPr/>
          <a:lstStyle/>
          <a:p>
            <a:endParaRPr lang="en-US" dirty="0"/>
          </a:p>
        </p:txBody>
      </p:sp>
      <p:pic>
        <p:nvPicPr>
          <p:cNvPr id="5" name="Picture 4" descr="Uninformed Search Algorithms"/>
          <p:cNvPicPr/>
          <p:nvPr/>
        </p:nvPicPr>
        <p:blipFill>
          <a:blip r:embed="rId2">
            <a:extLst>
              <a:ext uri="{28A0092B-C50C-407E-A947-70E740481C1C}">
                <a14:useLocalDpi xmlns:a14="http://schemas.microsoft.com/office/drawing/2010/main" val="0"/>
              </a:ext>
            </a:extLst>
          </a:blip>
          <a:srcRect/>
          <a:stretch>
            <a:fillRect/>
          </a:stretch>
        </p:blipFill>
        <p:spPr bwMode="auto">
          <a:xfrm>
            <a:off x="143768" y="1251099"/>
            <a:ext cx="8640960" cy="3808730"/>
          </a:xfrm>
          <a:prstGeom prst="rect">
            <a:avLst/>
          </a:prstGeom>
          <a:noFill/>
          <a:ln>
            <a:noFill/>
          </a:ln>
        </p:spPr>
      </p:pic>
    </p:spTree>
    <p:extLst>
      <p:ext uri="{BB962C8B-B14F-4D97-AF65-F5344CB8AC3E}">
        <p14:creationId xmlns:p14="http://schemas.microsoft.com/office/powerpoint/2010/main" val="316891751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smtClean="0"/>
              <a:t>BDS Evaluation</a:t>
            </a:r>
            <a:endParaRPr lang="en-US" sz="3200" dirty="0"/>
          </a:p>
        </p:txBody>
      </p:sp>
      <p:sp>
        <p:nvSpPr>
          <p:cNvPr id="3" name="Text Placeholder 2"/>
          <p:cNvSpPr>
            <a:spLocks noGrp="1"/>
          </p:cNvSpPr>
          <p:nvPr>
            <p:ph type="body"/>
          </p:nvPr>
        </p:nvSpPr>
        <p:spPr>
          <a:xfrm>
            <a:off x="503640" y="1326240"/>
            <a:ext cx="8497112" cy="3856680"/>
          </a:xfrm>
        </p:spPr>
        <p:txBody>
          <a:bodyPr/>
          <a:lstStyle/>
          <a:p>
            <a:r>
              <a:rPr lang="en-US" sz="2400" b="1" dirty="0"/>
              <a:t>Completeness:</a:t>
            </a:r>
            <a:r>
              <a:rPr lang="en-US" sz="2400" dirty="0"/>
              <a:t> Bidirectional Search is complete if we use BFS in both searches.</a:t>
            </a:r>
          </a:p>
          <a:p>
            <a:r>
              <a:rPr lang="en-US" sz="2400" b="1" dirty="0"/>
              <a:t>Time Complexity:</a:t>
            </a:r>
            <a:r>
              <a:rPr lang="en-US" sz="2400" dirty="0"/>
              <a:t> Time complexity of bidirectional search using BFS is </a:t>
            </a:r>
            <a:r>
              <a:rPr lang="en-US" sz="2400" b="1" dirty="0"/>
              <a:t>O(</a:t>
            </a:r>
            <a:r>
              <a:rPr lang="en-US" sz="2400" b="1" dirty="0" err="1"/>
              <a:t>b</a:t>
            </a:r>
            <a:r>
              <a:rPr lang="en-US" sz="2400" b="1" baseline="30000" dirty="0" err="1"/>
              <a:t>d</a:t>
            </a:r>
            <a:r>
              <a:rPr lang="en-US" sz="2400" b="1" dirty="0"/>
              <a:t>)</a:t>
            </a:r>
            <a:r>
              <a:rPr lang="en-US" sz="2400" dirty="0"/>
              <a:t>.</a:t>
            </a:r>
          </a:p>
          <a:p>
            <a:r>
              <a:rPr lang="en-US" sz="2400" b="1" dirty="0"/>
              <a:t>Space Complexity:</a:t>
            </a:r>
            <a:r>
              <a:rPr lang="en-US" sz="2400" dirty="0"/>
              <a:t> Space complexity of bidirectional search is </a:t>
            </a:r>
            <a:r>
              <a:rPr lang="en-US" sz="2400" b="1" dirty="0"/>
              <a:t>O(</a:t>
            </a:r>
            <a:r>
              <a:rPr lang="en-US" sz="2400" b="1" dirty="0" err="1"/>
              <a:t>b</a:t>
            </a:r>
            <a:r>
              <a:rPr lang="en-US" sz="2400" b="1" baseline="30000" dirty="0" err="1"/>
              <a:t>d</a:t>
            </a:r>
            <a:r>
              <a:rPr lang="en-US" sz="2400" b="1" dirty="0"/>
              <a:t>)</a:t>
            </a:r>
            <a:r>
              <a:rPr lang="en-US" sz="2400" dirty="0"/>
              <a:t>.</a:t>
            </a:r>
          </a:p>
          <a:p>
            <a:r>
              <a:rPr lang="en-US" sz="2400" b="1" dirty="0"/>
              <a:t>Optimal:</a:t>
            </a:r>
            <a:r>
              <a:rPr lang="en-US" sz="2400" dirty="0"/>
              <a:t> Bidirectional search is Optimal</a:t>
            </a:r>
            <a:r>
              <a:rPr lang="en-US" dirty="0"/>
              <a:t>.</a:t>
            </a:r>
          </a:p>
          <a:p>
            <a:endParaRPr lang="en-US" dirty="0"/>
          </a:p>
        </p:txBody>
      </p:sp>
    </p:spTree>
    <p:extLst>
      <p:ext uri="{BB962C8B-B14F-4D97-AF65-F5344CB8AC3E}">
        <p14:creationId xmlns:p14="http://schemas.microsoft.com/office/powerpoint/2010/main" val="282963357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t>Informed Search </a:t>
            </a:r>
            <a:r>
              <a:rPr lang="en-US" sz="3200" dirty="0" smtClean="0"/>
              <a:t>Algorithm (heuristic search)</a:t>
            </a:r>
            <a:r>
              <a:rPr lang="en-US" b="1" dirty="0"/>
              <a:t/>
            </a:r>
            <a:br>
              <a:rPr lang="en-US" b="1" dirty="0"/>
            </a:br>
            <a:endParaRPr lang="en-US" dirty="0"/>
          </a:p>
        </p:txBody>
      </p:sp>
      <p:sp>
        <p:nvSpPr>
          <p:cNvPr id="3" name="Text Placeholder 2"/>
          <p:cNvSpPr>
            <a:spLocks noGrp="1"/>
          </p:cNvSpPr>
          <p:nvPr>
            <p:ph type="body"/>
          </p:nvPr>
        </p:nvSpPr>
        <p:spPr>
          <a:xfrm>
            <a:off x="503640" y="1326240"/>
            <a:ext cx="8785144" cy="3856680"/>
          </a:xfrm>
        </p:spPr>
        <p:txBody>
          <a:bodyPr/>
          <a:lstStyle/>
          <a:p>
            <a:r>
              <a:rPr lang="en-US" dirty="0" smtClean="0"/>
              <a:t>Informed </a:t>
            </a:r>
            <a:r>
              <a:rPr lang="en-US" dirty="0"/>
              <a:t>search algorithm contains an array of knowledge such as how far we are from the goal, path cost, how to reach to goal node, etc. This knowledge help agents to explore less to the search space and find more efficiently the goal node</a:t>
            </a:r>
            <a:r>
              <a:rPr lang="en-US" dirty="0" smtClean="0"/>
              <a:t>.</a:t>
            </a:r>
          </a:p>
          <a:p>
            <a:endParaRPr lang="en-US" dirty="0" smtClean="0"/>
          </a:p>
          <a:p>
            <a:r>
              <a:rPr lang="en-US" dirty="0"/>
              <a:t>The informed search </a:t>
            </a:r>
            <a:r>
              <a:rPr lang="en-US" dirty="0" smtClean="0"/>
              <a:t>algorithms are  </a:t>
            </a:r>
            <a:r>
              <a:rPr lang="en-US" dirty="0"/>
              <a:t>more useful for large search </a:t>
            </a:r>
            <a:r>
              <a:rPr lang="en-US" dirty="0" smtClean="0"/>
              <a:t>space</a:t>
            </a:r>
          </a:p>
          <a:p>
            <a:endParaRPr lang="en-US" dirty="0" smtClean="0"/>
          </a:p>
          <a:p>
            <a:r>
              <a:rPr lang="en-US" b="1" dirty="0"/>
              <a:t>Heuristics function:</a:t>
            </a:r>
            <a:r>
              <a:rPr lang="en-US" dirty="0"/>
              <a:t> Heuristic is a function which is used in Informed Search</a:t>
            </a:r>
            <a:r>
              <a:rPr lang="en-US" dirty="0" smtClean="0"/>
              <a:t>, it </a:t>
            </a:r>
            <a:r>
              <a:rPr lang="en-US" dirty="0"/>
              <a:t>finds the most promising path</a:t>
            </a:r>
            <a:r>
              <a:rPr lang="en-US" dirty="0" smtClean="0"/>
              <a:t>.</a:t>
            </a:r>
          </a:p>
          <a:p>
            <a:r>
              <a:rPr lang="en-US" dirty="0" smtClean="0"/>
              <a:t> </a:t>
            </a:r>
            <a:r>
              <a:rPr lang="en-US" dirty="0"/>
              <a:t>It takes the current state of the agent as its input and produces the estimation of how close </a:t>
            </a:r>
            <a:r>
              <a:rPr lang="en-US" dirty="0" smtClean="0"/>
              <a:t>the agent </a:t>
            </a:r>
            <a:r>
              <a:rPr lang="en-US" dirty="0"/>
              <a:t>is from the goal. </a:t>
            </a:r>
            <a:endParaRPr lang="en-US" dirty="0" smtClean="0"/>
          </a:p>
          <a:p>
            <a:r>
              <a:rPr lang="en-US" dirty="0" smtClean="0"/>
              <a:t>Heuristic </a:t>
            </a:r>
            <a:r>
              <a:rPr lang="en-US" dirty="0"/>
              <a:t>function estimates how close a state is to the goal. </a:t>
            </a:r>
            <a:endParaRPr lang="en-US" dirty="0" smtClean="0"/>
          </a:p>
          <a:p>
            <a:r>
              <a:rPr lang="en-US" dirty="0" smtClean="0"/>
              <a:t>It </a:t>
            </a:r>
            <a:r>
              <a:rPr lang="en-US" dirty="0"/>
              <a:t>is represented by</a:t>
            </a:r>
            <a:r>
              <a:rPr lang="en-US" b="1" dirty="0"/>
              <a:t> h(n</a:t>
            </a:r>
            <a:r>
              <a:rPr lang="en-US" b="1" dirty="0" smtClean="0"/>
              <a:t>).</a:t>
            </a:r>
            <a:endParaRPr lang="en-US" b="1" dirty="0"/>
          </a:p>
        </p:txBody>
      </p:sp>
    </p:spTree>
    <p:extLst>
      <p:ext uri="{BB962C8B-B14F-4D97-AF65-F5344CB8AC3E}">
        <p14:creationId xmlns:p14="http://schemas.microsoft.com/office/powerpoint/2010/main" val="98508292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r>
              <a:rPr lang="en-US" dirty="0" smtClean="0"/>
              <a:t> </a:t>
            </a:r>
            <a:r>
              <a:rPr lang="en-US" sz="3200" b="1" dirty="0" smtClean="0"/>
              <a:t>h(n) admissibility</a:t>
            </a:r>
            <a:endParaRPr lang="en-US" sz="3200" b="1" dirty="0"/>
          </a:p>
        </p:txBody>
      </p:sp>
      <p:sp>
        <p:nvSpPr>
          <p:cNvPr id="3" name="Text Placeholder 2"/>
          <p:cNvSpPr>
            <a:spLocks noGrp="1"/>
          </p:cNvSpPr>
          <p:nvPr>
            <p:ph type="body"/>
          </p:nvPr>
        </p:nvSpPr>
        <p:spPr>
          <a:xfrm>
            <a:off x="359792" y="1323107"/>
            <a:ext cx="4426200" cy="3856680"/>
          </a:xfrm>
        </p:spPr>
        <p:txBody>
          <a:bodyPr/>
          <a:lstStyle/>
          <a:p>
            <a:r>
              <a:rPr lang="en-US" b="1" dirty="0"/>
              <a:t>Admissibility of the heuristic function is given as:</a:t>
            </a:r>
            <a:endParaRPr lang="en-US" dirty="0"/>
          </a:p>
          <a:p>
            <a:pPr lvl="0"/>
            <a:r>
              <a:rPr lang="en-US" dirty="0"/>
              <a:t>h(n) &lt;= h*(n)  </a:t>
            </a:r>
          </a:p>
          <a:p>
            <a:r>
              <a:rPr lang="en-US" b="1" dirty="0" smtClean="0"/>
              <a:t>h(n</a:t>
            </a:r>
            <a:r>
              <a:rPr lang="en-US" b="1" dirty="0"/>
              <a:t>) is heuristic cost, and h*(n) is the estimated cost. </a:t>
            </a:r>
            <a:endParaRPr lang="en-US" b="1" dirty="0" smtClean="0"/>
          </a:p>
        </p:txBody>
      </p:sp>
      <p:sp>
        <p:nvSpPr>
          <p:cNvPr id="4" name="Text Placeholder 3"/>
          <p:cNvSpPr>
            <a:spLocks noGrp="1"/>
          </p:cNvSpPr>
          <p:nvPr>
            <p:ph type="body"/>
          </p:nvPr>
        </p:nvSpPr>
        <p:spPr>
          <a:xfrm>
            <a:off x="4896296" y="1326240"/>
            <a:ext cx="4681504" cy="3856680"/>
          </a:xfrm>
        </p:spPr>
        <p:txBody>
          <a:bodyPr>
            <a:normAutofit/>
          </a:bodyPr>
          <a:lstStyle/>
          <a:p>
            <a:pPr lvl="0"/>
            <a:r>
              <a:rPr lang="en-US" sz="1600" b="1" dirty="0" smtClean="0"/>
              <a:t>     examples</a:t>
            </a:r>
          </a:p>
          <a:p>
            <a:pPr marL="285750" lvl="0" indent="-285750">
              <a:buFont typeface="Wingdings" pitchFamily="2" charset="2"/>
              <a:buChar char="q"/>
            </a:pPr>
            <a:endParaRPr lang="en-US" sz="1600" b="1" dirty="0"/>
          </a:p>
          <a:p>
            <a:pPr marL="285750" lvl="0" indent="-285750">
              <a:buFont typeface="Wingdings" pitchFamily="2" charset="2"/>
              <a:buChar char="q"/>
            </a:pPr>
            <a:r>
              <a:rPr lang="en-US" sz="1600" dirty="0" smtClean="0"/>
              <a:t>Best </a:t>
            </a:r>
            <a:r>
              <a:rPr lang="en-US" sz="1600" dirty="0"/>
              <a:t>First Search Algorithm(Greedy search</a:t>
            </a:r>
            <a:r>
              <a:rPr lang="en-US" sz="1600" dirty="0" smtClean="0"/>
              <a:t>)</a:t>
            </a:r>
          </a:p>
          <a:p>
            <a:pPr lvl="0"/>
            <a:endParaRPr lang="en-US" sz="1600" dirty="0"/>
          </a:p>
          <a:p>
            <a:pPr marL="285750" indent="-285750">
              <a:buFont typeface="Wingdings" pitchFamily="2" charset="2"/>
              <a:buChar char="q"/>
            </a:pPr>
            <a:r>
              <a:rPr lang="en-US" sz="1600" dirty="0"/>
              <a:t>A* Search </a:t>
            </a:r>
            <a:r>
              <a:rPr lang="en-US" sz="1600" dirty="0" smtClean="0"/>
              <a:t>Algorithm (</a:t>
            </a:r>
            <a:r>
              <a:rPr lang="en-US" sz="1600" dirty="0"/>
              <a:t>G</a:t>
            </a:r>
            <a:r>
              <a:rPr lang="en-US" sz="1600" dirty="0" smtClean="0"/>
              <a:t>reedy search)</a:t>
            </a:r>
            <a:endParaRPr lang="en-US" sz="1600" dirty="0"/>
          </a:p>
        </p:txBody>
      </p:sp>
    </p:spTree>
    <p:extLst>
      <p:ext uri="{BB962C8B-B14F-4D97-AF65-F5344CB8AC3E}">
        <p14:creationId xmlns:p14="http://schemas.microsoft.com/office/powerpoint/2010/main" val="304702066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b="1" dirty="0" smtClean="0"/>
              <a:t>Pure Heuristic Search:</a:t>
            </a:r>
            <a:r>
              <a:rPr lang="en-US" b="1" dirty="0" smtClean="0"/>
              <a:t/>
            </a:r>
            <a:br>
              <a:rPr lang="en-US" b="1" dirty="0" smtClean="0"/>
            </a:br>
            <a:endParaRPr lang="en-US" dirty="0"/>
          </a:p>
        </p:txBody>
      </p:sp>
      <p:sp>
        <p:nvSpPr>
          <p:cNvPr id="3" name="Text Placeholder 2"/>
          <p:cNvSpPr>
            <a:spLocks noGrp="1"/>
          </p:cNvSpPr>
          <p:nvPr>
            <p:ph type="body"/>
          </p:nvPr>
        </p:nvSpPr>
        <p:spPr>
          <a:xfrm>
            <a:off x="503640" y="1326240"/>
            <a:ext cx="9433216" cy="3856680"/>
          </a:xfrm>
        </p:spPr>
        <p:txBody>
          <a:bodyPr/>
          <a:lstStyle/>
          <a:p>
            <a:endParaRPr lang="en-US" dirty="0" smtClean="0"/>
          </a:p>
          <a:p>
            <a:r>
              <a:rPr lang="en-US" dirty="0" smtClean="0"/>
              <a:t>It </a:t>
            </a:r>
            <a:r>
              <a:rPr lang="en-US" dirty="0"/>
              <a:t>expands nodes based on their heuristic value h(n). </a:t>
            </a:r>
            <a:endParaRPr lang="en-US" dirty="0" smtClean="0"/>
          </a:p>
          <a:p>
            <a:r>
              <a:rPr lang="en-US" dirty="0" smtClean="0"/>
              <a:t>It </a:t>
            </a:r>
            <a:r>
              <a:rPr lang="en-US" dirty="0"/>
              <a:t>maintains two lists, </a:t>
            </a:r>
            <a:endParaRPr lang="en-US" dirty="0" smtClean="0"/>
          </a:p>
          <a:p>
            <a:endParaRPr lang="en-US" dirty="0"/>
          </a:p>
          <a:p>
            <a:r>
              <a:rPr lang="en-US" dirty="0" smtClean="0"/>
              <a:t>OPEN list  (it places nodes which have not yet been expanded)</a:t>
            </a:r>
          </a:p>
          <a:p>
            <a:r>
              <a:rPr lang="en-US" dirty="0" smtClean="0"/>
              <a:t>CLOSED </a:t>
            </a:r>
            <a:r>
              <a:rPr lang="en-US" dirty="0"/>
              <a:t>list. </a:t>
            </a:r>
            <a:r>
              <a:rPr lang="en-US" dirty="0" smtClean="0"/>
              <a:t>(places </a:t>
            </a:r>
            <a:r>
              <a:rPr lang="en-US" dirty="0"/>
              <a:t>those nodes which have already </a:t>
            </a:r>
            <a:r>
              <a:rPr lang="en-US" dirty="0" smtClean="0"/>
              <a:t> been expanded )</a:t>
            </a:r>
          </a:p>
          <a:p>
            <a:endParaRPr lang="en-US" dirty="0"/>
          </a:p>
          <a:p>
            <a:r>
              <a:rPr lang="en-US" dirty="0"/>
              <a:t> </a:t>
            </a:r>
            <a:r>
              <a:rPr lang="en-US" dirty="0" smtClean="0"/>
              <a:t> In </a:t>
            </a:r>
            <a:r>
              <a:rPr lang="en-US" dirty="0"/>
              <a:t>each iteration, each node n with the lowest heuristic value is expanded and generates all its successors and n is placed to the closed list. The algorithm continues </a:t>
            </a:r>
            <a:r>
              <a:rPr lang="en-US" dirty="0" smtClean="0"/>
              <a:t>until </a:t>
            </a:r>
            <a:r>
              <a:rPr lang="en-US" dirty="0"/>
              <a:t>a goal state is </a:t>
            </a:r>
            <a:r>
              <a:rPr lang="en-US" dirty="0" smtClean="0"/>
              <a:t>established.</a:t>
            </a:r>
            <a:endParaRPr lang="en-US" dirty="0"/>
          </a:p>
          <a:p>
            <a:endParaRPr lang="en-US" dirty="0"/>
          </a:p>
        </p:txBody>
      </p:sp>
    </p:spTree>
    <p:extLst>
      <p:ext uri="{BB962C8B-B14F-4D97-AF65-F5344CB8AC3E}">
        <p14:creationId xmlns:p14="http://schemas.microsoft.com/office/powerpoint/2010/main" val="79550958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9640" y="225720"/>
            <a:ext cx="8713200" cy="946080"/>
          </a:xfrm>
        </p:spPr>
        <p:txBody>
          <a:bodyPr/>
          <a:lstStyle/>
          <a:p>
            <a:r>
              <a:rPr lang="en-US" sz="3200" b="1" dirty="0" smtClean="0"/>
              <a:t>Greedy Best-first Search</a:t>
            </a:r>
            <a:endParaRPr lang="en-US" sz="3200" dirty="0"/>
          </a:p>
        </p:txBody>
      </p:sp>
      <p:sp>
        <p:nvSpPr>
          <p:cNvPr id="3" name="Text Placeholder 2"/>
          <p:cNvSpPr>
            <a:spLocks noGrp="1"/>
          </p:cNvSpPr>
          <p:nvPr>
            <p:ph type="body"/>
          </p:nvPr>
        </p:nvSpPr>
        <p:spPr>
          <a:xfrm>
            <a:off x="503640" y="1326240"/>
            <a:ext cx="9073176" cy="3856680"/>
          </a:xfrm>
        </p:spPr>
        <p:txBody>
          <a:bodyPr>
            <a:normAutofit lnSpcReduction="10000"/>
          </a:bodyPr>
          <a:lstStyle/>
          <a:p>
            <a:r>
              <a:rPr lang="en-US" dirty="0"/>
              <a:t>Greedy best-first search algorithm always selects the path which appears best at that moment. It is the combination of depth-first search and breadth-first search </a:t>
            </a:r>
            <a:r>
              <a:rPr lang="en-US" dirty="0" smtClean="0"/>
              <a:t>algorithms</a:t>
            </a:r>
          </a:p>
          <a:p>
            <a:endParaRPr lang="en-US" dirty="0"/>
          </a:p>
          <a:p>
            <a:r>
              <a:rPr lang="en-US" dirty="0" smtClean="0"/>
              <a:t>With </a:t>
            </a:r>
            <a:r>
              <a:rPr lang="en-US" dirty="0"/>
              <a:t>the help of best-first search, at each step, we can choose the most promising node. </a:t>
            </a:r>
            <a:endParaRPr lang="en-US" dirty="0" smtClean="0"/>
          </a:p>
          <a:p>
            <a:endParaRPr lang="en-US" dirty="0" smtClean="0"/>
          </a:p>
          <a:p>
            <a:r>
              <a:rPr lang="en-US" dirty="0"/>
              <a:t>It expands the node that is estimated to be closest to goal. It expands nodes based</a:t>
            </a:r>
            <a:br>
              <a:rPr lang="en-US" dirty="0"/>
            </a:br>
            <a:r>
              <a:rPr lang="en-US" dirty="0"/>
              <a:t>on </a:t>
            </a:r>
            <a:r>
              <a:rPr lang="en-US" b="1" dirty="0"/>
              <a:t>f(n) = h(n</a:t>
            </a:r>
            <a:r>
              <a:rPr lang="en-US" dirty="0"/>
              <a:t>). </a:t>
            </a:r>
            <a:endParaRPr lang="en-US" dirty="0" smtClean="0"/>
          </a:p>
          <a:p>
            <a:endParaRPr lang="en-US" dirty="0" smtClean="0"/>
          </a:p>
          <a:p>
            <a:r>
              <a:rPr lang="en-US" dirty="0" smtClean="0"/>
              <a:t>Where</a:t>
            </a:r>
            <a:r>
              <a:rPr lang="en-US" dirty="0"/>
              <a:t>, </a:t>
            </a:r>
            <a:endParaRPr lang="en-US" dirty="0" smtClean="0"/>
          </a:p>
          <a:p>
            <a:r>
              <a:rPr lang="en-US" dirty="0" smtClean="0"/>
              <a:t>F(n) = evaluation function</a:t>
            </a:r>
            <a:endParaRPr lang="en-US" dirty="0"/>
          </a:p>
          <a:p>
            <a:r>
              <a:rPr lang="en-US" dirty="0" smtClean="0"/>
              <a:t>h(n</a:t>
            </a:r>
            <a:r>
              <a:rPr lang="en-US" dirty="0"/>
              <a:t>)= estimated cost from node n to the goal</a:t>
            </a:r>
            <a:r>
              <a:rPr lang="en-US" dirty="0" smtClean="0"/>
              <a:t>.</a:t>
            </a:r>
          </a:p>
          <a:p>
            <a:endParaRPr lang="en-US" dirty="0"/>
          </a:p>
          <a:p>
            <a:r>
              <a:rPr lang="en-US" dirty="0" smtClean="0"/>
              <a:t>It </a:t>
            </a:r>
            <a:r>
              <a:rPr lang="en-US" dirty="0"/>
              <a:t>is implemented using </a:t>
            </a:r>
            <a:r>
              <a:rPr lang="en-US" b="1" dirty="0"/>
              <a:t>priority queue</a:t>
            </a:r>
            <a:r>
              <a:rPr lang="en-US" dirty="0"/>
              <a:t>.</a:t>
            </a:r>
            <a:br>
              <a:rPr lang="en-US" dirty="0"/>
            </a:br>
            <a:r>
              <a:rPr lang="en-US" dirty="0" smtClean="0"/>
              <a:t/>
            </a:r>
            <a:br>
              <a:rPr lang="en-US" dirty="0" smtClean="0"/>
            </a:br>
            <a:endParaRPr lang="en-US" dirty="0"/>
          </a:p>
        </p:txBody>
      </p:sp>
    </p:spTree>
    <p:extLst>
      <p:ext uri="{BB962C8B-B14F-4D97-AF65-F5344CB8AC3E}">
        <p14:creationId xmlns:p14="http://schemas.microsoft.com/office/powerpoint/2010/main" val="248524371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b="1" dirty="0" smtClean="0"/>
              <a:t>Best first search algorithm:</a:t>
            </a:r>
            <a:endParaRPr lang="en-US" sz="3200" b="1" dirty="0"/>
          </a:p>
        </p:txBody>
      </p:sp>
      <p:sp>
        <p:nvSpPr>
          <p:cNvPr id="3" name="Text Placeholder 2"/>
          <p:cNvSpPr>
            <a:spLocks noGrp="1"/>
          </p:cNvSpPr>
          <p:nvPr>
            <p:ph type="body"/>
          </p:nvPr>
        </p:nvSpPr>
        <p:spPr>
          <a:xfrm>
            <a:off x="503640" y="1326240"/>
            <a:ext cx="8713136" cy="3856680"/>
          </a:xfrm>
        </p:spPr>
        <p:txBody>
          <a:bodyPr>
            <a:normAutofit/>
          </a:bodyPr>
          <a:lstStyle/>
          <a:p>
            <a:pPr lvl="0"/>
            <a:r>
              <a:rPr lang="en-US" b="1" dirty="0" smtClean="0"/>
              <a:t>Step </a:t>
            </a:r>
            <a:r>
              <a:rPr lang="en-US" b="1" dirty="0"/>
              <a:t>1:</a:t>
            </a:r>
            <a:r>
              <a:rPr lang="en-US" dirty="0"/>
              <a:t> Place the starting node into the OPEN list.</a:t>
            </a:r>
          </a:p>
          <a:p>
            <a:pPr lvl="0"/>
            <a:r>
              <a:rPr lang="en-US" b="1" dirty="0"/>
              <a:t>Step 2:</a:t>
            </a:r>
            <a:r>
              <a:rPr lang="en-US" dirty="0"/>
              <a:t> If the OPEN list is empty, Stop and return failure.</a:t>
            </a:r>
          </a:p>
          <a:p>
            <a:pPr lvl="0"/>
            <a:r>
              <a:rPr lang="en-US" b="1" dirty="0"/>
              <a:t>Step 3:</a:t>
            </a:r>
            <a:r>
              <a:rPr lang="en-US" dirty="0"/>
              <a:t> Remove the node n, from the OPEN list which has the lowest value of h(n), and places it in the CLOSED list.</a:t>
            </a:r>
          </a:p>
          <a:p>
            <a:pPr lvl="0"/>
            <a:r>
              <a:rPr lang="en-US" b="1" dirty="0"/>
              <a:t>Step 4:</a:t>
            </a:r>
            <a:r>
              <a:rPr lang="en-US" dirty="0"/>
              <a:t> Expand the node n, and generate the successors of node n.</a:t>
            </a:r>
          </a:p>
          <a:p>
            <a:pPr lvl="0"/>
            <a:r>
              <a:rPr lang="en-US" b="1" dirty="0"/>
              <a:t>Step 5:</a:t>
            </a:r>
            <a:r>
              <a:rPr lang="en-US" dirty="0"/>
              <a:t> Check each successor of node n, and find whether any node is a goal node or not. If any successor node is goal node, then return success and terminate the search, else proceed to Step 6.</a:t>
            </a:r>
          </a:p>
          <a:p>
            <a:pPr lvl="0"/>
            <a:r>
              <a:rPr lang="en-US" b="1" dirty="0"/>
              <a:t>Step 6:</a:t>
            </a:r>
            <a:r>
              <a:rPr lang="en-US" dirty="0"/>
              <a:t> For each successor node, algorithm checks for evaluation function f(n), and then check if the node has been in either OPEN or CLOSED list. If the node has not been in both list, then add it to the OPEN list.</a:t>
            </a:r>
          </a:p>
          <a:p>
            <a:pPr lvl="0"/>
            <a:r>
              <a:rPr lang="en-US" b="1" dirty="0"/>
              <a:t>Step 7:</a:t>
            </a:r>
            <a:r>
              <a:rPr lang="en-US" dirty="0"/>
              <a:t> Return to Step 2.</a:t>
            </a:r>
          </a:p>
          <a:p>
            <a:endParaRPr lang="en-US" dirty="0"/>
          </a:p>
        </p:txBody>
      </p:sp>
    </p:spTree>
    <p:extLst>
      <p:ext uri="{BB962C8B-B14F-4D97-AF65-F5344CB8AC3E}">
        <p14:creationId xmlns:p14="http://schemas.microsoft.com/office/powerpoint/2010/main" val="344099039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b="1" dirty="0" smtClean="0"/>
              <a:t>Example</a:t>
            </a:r>
            <a:endParaRPr lang="en-US" sz="3200" b="1" dirty="0"/>
          </a:p>
        </p:txBody>
      </p:sp>
      <p:sp>
        <p:nvSpPr>
          <p:cNvPr id="6" name="TextBox 5"/>
          <p:cNvSpPr txBox="1"/>
          <p:nvPr/>
        </p:nvSpPr>
        <p:spPr>
          <a:xfrm>
            <a:off x="359791" y="1291180"/>
            <a:ext cx="9305613" cy="646331"/>
          </a:xfrm>
          <a:prstGeom prst="rect">
            <a:avLst/>
          </a:prstGeom>
          <a:noFill/>
        </p:spPr>
        <p:txBody>
          <a:bodyPr wrap="square" rtlCol="0">
            <a:spAutoFit/>
          </a:bodyPr>
          <a:lstStyle/>
          <a:p>
            <a:r>
              <a:rPr lang="en-US" dirty="0"/>
              <a:t>Consider </a:t>
            </a:r>
            <a:r>
              <a:rPr lang="en-US" dirty="0" smtClean="0"/>
              <a:t>the search problem below, We will traverse it using  </a:t>
            </a:r>
            <a:r>
              <a:rPr lang="en-US" dirty="0"/>
              <a:t>greedy best-first search</a:t>
            </a:r>
            <a:r>
              <a:rPr lang="en-US" dirty="0" smtClean="0"/>
              <a:t>.</a:t>
            </a:r>
          </a:p>
          <a:p>
            <a:r>
              <a:rPr lang="en-US" dirty="0" smtClean="0"/>
              <a:t> </a:t>
            </a:r>
            <a:r>
              <a:rPr lang="en-US" dirty="0"/>
              <a:t>At each iteration, each node is expanded using evaluation function f(n)=h(n) </a:t>
            </a:r>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08064" y="2475235"/>
            <a:ext cx="3600400" cy="2371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0752028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Text Placeholder 2"/>
          <p:cNvSpPr>
            <a:spLocks noGrp="1"/>
          </p:cNvSpPr>
          <p:nvPr>
            <p:ph type="body"/>
          </p:nvPr>
        </p:nvSpPr>
        <p:spPr>
          <a:xfrm>
            <a:off x="503640" y="1326239"/>
            <a:ext cx="5760808" cy="3885299"/>
          </a:xfrm>
        </p:spPr>
        <p:txBody>
          <a:bodyPr>
            <a:normAutofit/>
          </a:bodyPr>
          <a:lstStyle/>
          <a:p>
            <a:r>
              <a:rPr lang="en-US" dirty="0"/>
              <a:t>In this search example, we are using two lists which are </a:t>
            </a:r>
            <a:r>
              <a:rPr lang="en-US" b="1" dirty="0"/>
              <a:t>OPEN</a:t>
            </a:r>
            <a:r>
              <a:rPr lang="en-US" dirty="0"/>
              <a:t> and </a:t>
            </a:r>
            <a:r>
              <a:rPr lang="en-US" b="1" dirty="0"/>
              <a:t>CLOSED</a:t>
            </a:r>
            <a:r>
              <a:rPr lang="en-US" dirty="0"/>
              <a:t> </a:t>
            </a:r>
            <a:r>
              <a:rPr lang="en-US" dirty="0" smtClean="0"/>
              <a:t>Lists</a:t>
            </a:r>
          </a:p>
          <a:p>
            <a:r>
              <a:rPr lang="en-US" b="1" dirty="0" smtClean="0"/>
              <a:t>Expand </a:t>
            </a:r>
            <a:r>
              <a:rPr lang="en-US" b="1" dirty="0"/>
              <a:t>the nodes of S and put in the CLOSED list</a:t>
            </a:r>
            <a:endParaRPr lang="en-US" dirty="0"/>
          </a:p>
          <a:p>
            <a:r>
              <a:rPr lang="en-US" b="1" dirty="0"/>
              <a:t>Initialization:</a:t>
            </a:r>
            <a:r>
              <a:rPr lang="en-US" dirty="0"/>
              <a:t> Open [A, B], Closed [S]</a:t>
            </a:r>
          </a:p>
          <a:p>
            <a:r>
              <a:rPr lang="en-US" b="1" dirty="0"/>
              <a:t>Iteration 1:</a:t>
            </a:r>
            <a:r>
              <a:rPr lang="en-US" dirty="0"/>
              <a:t> Open [A], Closed [S, B]</a:t>
            </a:r>
          </a:p>
          <a:p>
            <a:r>
              <a:rPr lang="en-US" b="1" dirty="0"/>
              <a:t>Iteration 2:</a:t>
            </a:r>
            <a:r>
              <a:rPr lang="en-US" dirty="0"/>
              <a:t> Open [E, F, A], Closed [S, B]</a:t>
            </a:r>
            <a:br>
              <a:rPr lang="en-US" dirty="0"/>
            </a:br>
            <a:r>
              <a:rPr lang="en-US" dirty="0"/>
              <a:t>                  : Open [E, A], Closed [S, B, F]</a:t>
            </a:r>
          </a:p>
          <a:p>
            <a:r>
              <a:rPr lang="en-US" b="1" dirty="0"/>
              <a:t>Iteration 3:</a:t>
            </a:r>
            <a:r>
              <a:rPr lang="en-US" dirty="0"/>
              <a:t> Open [I, G, E, A], Closed [S, B, F]</a:t>
            </a:r>
            <a:br>
              <a:rPr lang="en-US" dirty="0"/>
            </a:br>
            <a:r>
              <a:rPr lang="en-US" dirty="0"/>
              <a:t>                  : Open [I, E, A], Closed [S, B, F, G</a:t>
            </a:r>
            <a:r>
              <a:rPr lang="en-US" dirty="0" smtClean="0"/>
              <a:t>]</a:t>
            </a:r>
          </a:p>
          <a:p>
            <a:endParaRPr lang="en-US" dirty="0"/>
          </a:p>
          <a:p>
            <a:r>
              <a:rPr lang="en-US" dirty="0" smtClean="0"/>
              <a:t>Final </a:t>
            </a:r>
            <a:r>
              <a:rPr lang="en-US" dirty="0"/>
              <a:t>solution path will be: </a:t>
            </a:r>
            <a:r>
              <a:rPr lang="en-US" b="1" dirty="0"/>
              <a:t>S----&gt; B-----&gt;F----&gt; G</a:t>
            </a:r>
            <a:endParaRPr lang="en-US" dirty="0"/>
          </a:p>
          <a:p>
            <a:endParaRPr lang="en-US" dirty="0"/>
          </a:p>
          <a:p>
            <a:endParaRPr lang="en-US" dirty="0"/>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04408" y="1196975"/>
            <a:ext cx="2657475" cy="3276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89549639"/>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b="1" dirty="0" smtClean="0"/>
              <a:t>Evaluation</a:t>
            </a:r>
            <a:endParaRPr lang="en-US" sz="3200" b="1" dirty="0"/>
          </a:p>
        </p:txBody>
      </p:sp>
      <p:sp>
        <p:nvSpPr>
          <p:cNvPr id="3" name="Text Placeholder 2"/>
          <p:cNvSpPr>
            <a:spLocks noGrp="1"/>
          </p:cNvSpPr>
          <p:nvPr>
            <p:ph type="body"/>
          </p:nvPr>
        </p:nvSpPr>
        <p:spPr>
          <a:xfrm>
            <a:off x="503640" y="1326240"/>
            <a:ext cx="9217192" cy="3856680"/>
          </a:xfrm>
        </p:spPr>
        <p:txBody>
          <a:bodyPr/>
          <a:lstStyle/>
          <a:p>
            <a:r>
              <a:rPr lang="en-US" b="1" dirty="0" smtClean="0"/>
              <a:t>Time Complexity:</a:t>
            </a:r>
            <a:r>
              <a:rPr lang="en-US" dirty="0" smtClean="0"/>
              <a:t> The worst case time complexity of Greedy best first search is O(</a:t>
            </a:r>
            <a:r>
              <a:rPr lang="en-US" dirty="0" err="1" smtClean="0"/>
              <a:t>b</a:t>
            </a:r>
            <a:r>
              <a:rPr lang="en-US" baseline="30000" dirty="0" err="1" smtClean="0"/>
              <a:t>m</a:t>
            </a:r>
            <a:r>
              <a:rPr lang="en-US" dirty="0" smtClean="0"/>
              <a:t>).</a:t>
            </a:r>
          </a:p>
          <a:p>
            <a:r>
              <a:rPr lang="en-US" b="1" dirty="0" smtClean="0"/>
              <a:t>Space Complexity:</a:t>
            </a:r>
            <a:r>
              <a:rPr lang="en-US" dirty="0" smtClean="0"/>
              <a:t> The worst case space complexity of Greedy best first search is O(</a:t>
            </a:r>
            <a:r>
              <a:rPr lang="en-US" dirty="0" err="1" smtClean="0"/>
              <a:t>b</a:t>
            </a:r>
            <a:r>
              <a:rPr lang="en-US" baseline="30000" dirty="0" err="1" smtClean="0"/>
              <a:t>m</a:t>
            </a:r>
            <a:r>
              <a:rPr lang="en-US" dirty="0" smtClean="0"/>
              <a:t>). Where, m is the maximum depth of the search space.</a:t>
            </a:r>
          </a:p>
          <a:p>
            <a:r>
              <a:rPr lang="en-US" b="1" dirty="0" smtClean="0"/>
              <a:t>Complete:</a:t>
            </a:r>
            <a:r>
              <a:rPr lang="en-US" dirty="0" smtClean="0"/>
              <a:t> Greedy best-first search is also incomplete, even if the given state space is finite.</a:t>
            </a:r>
          </a:p>
          <a:p>
            <a:r>
              <a:rPr lang="en-US" b="1" dirty="0" smtClean="0"/>
              <a:t>Optimal:</a:t>
            </a:r>
            <a:r>
              <a:rPr lang="en-US" dirty="0" smtClean="0"/>
              <a:t> Greedy best first search algorithm is not optimal.</a:t>
            </a:r>
          </a:p>
          <a:p>
            <a:endParaRPr lang="en-US" dirty="0"/>
          </a:p>
        </p:txBody>
      </p:sp>
    </p:spTree>
    <p:extLst>
      <p:ext uri="{BB962C8B-B14F-4D97-AF65-F5344CB8AC3E}">
        <p14:creationId xmlns:p14="http://schemas.microsoft.com/office/powerpoint/2010/main" val="1160994141"/>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b="1" dirty="0"/>
              <a:t>A* Search Algorithm:</a:t>
            </a:r>
            <a:r>
              <a:rPr lang="en-US" b="1" dirty="0"/>
              <a:t/>
            </a:r>
            <a:br>
              <a:rPr lang="en-US" b="1" dirty="0"/>
            </a:br>
            <a:endParaRPr lang="en-US" dirty="0"/>
          </a:p>
        </p:txBody>
      </p:sp>
      <p:sp>
        <p:nvSpPr>
          <p:cNvPr id="3" name="Text Placeholder 2"/>
          <p:cNvSpPr>
            <a:spLocks noGrp="1"/>
          </p:cNvSpPr>
          <p:nvPr>
            <p:ph type="body"/>
          </p:nvPr>
        </p:nvSpPr>
        <p:spPr>
          <a:xfrm>
            <a:off x="431800" y="1323107"/>
            <a:ext cx="4536672" cy="3856680"/>
          </a:xfrm>
        </p:spPr>
        <p:txBody>
          <a:bodyPr/>
          <a:lstStyle/>
          <a:p>
            <a:r>
              <a:rPr lang="en-US" dirty="0"/>
              <a:t>It avoids expanding paths that are </a:t>
            </a:r>
            <a:r>
              <a:rPr lang="en-US" dirty="0" smtClean="0"/>
              <a:t>already expensive</a:t>
            </a:r>
            <a:r>
              <a:rPr lang="en-US" dirty="0"/>
              <a:t>, but expands most promising paths first</a:t>
            </a:r>
            <a:r>
              <a:rPr lang="en-US" dirty="0" smtClean="0"/>
              <a:t>.</a:t>
            </a:r>
          </a:p>
          <a:p>
            <a:r>
              <a:rPr lang="en-US" dirty="0"/>
              <a:t/>
            </a:r>
            <a:br>
              <a:rPr lang="en-US" dirty="0"/>
            </a:br>
            <a:r>
              <a:rPr lang="en-US" b="1" dirty="0"/>
              <a:t>f(n) = g(n) + h(n</a:t>
            </a:r>
            <a:r>
              <a:rPr lang="en-US" dirty="0"/>
              <a:t>), </a:t>
            </a:r>
            <a:r>
              <a:rPr lang="en-US" dirty="0" smtClean="0"/>
              <a:t>where</a:t>
            </a:r>
          </a:p>
          <a:p>
            <a:r>
              <a:rPr lang="en-US" dirty="0"/>
              <a:t/>
            </a:r>
            <a:br>
              <a:rPr lang="en-US" dirty="0"/>
            </a:br>
            <a:r>
              <a:rPr lang="en-US" dirty="0"/>
              <a:t>• g(n) the cost (so far) to reach the node</a:t>
            </a:r>
            <a:br>
              <a:rPr lang="en-US" dirty="0"/>
            </a:br>
            <a:r>
              <a:rPr lang="en-US" dirty="0"/>
              <a:t>• h(n) estimated cost to get from the node to the goal</a:t>
            </a:r>
            <a:br>
              <a:rPr lang="en-US" dirty="0"/>
            </a:br>
            <a:r>
              <a:rPr lang="en-US" dirty="0"/>
              <a:t>• f(n) estimated total cost of path through n to goal. It is implemented using</a:t>
            </a:r>
            <a:br>
              <a:rPr lang="en-US" dirty="0"/>
            </a:br>
            <a:r>
              <a:rPr lang="en-US" dirty="0"/>
              <a:t>priority queue by increasing f(n)</a:t>
            </a:r>
            <a:r>
              <a:rPr lang="en-US" dirty="0" smtClean="0"/>
              <a:t> </a:t>
            </a:r>
            <a:br>
              <a:rPr lang="en-US" dirty="0" smtClean="0"/>
            </a:br>
            <a:endParaRPr lang="en-US" dirty="0"/>
          </a:p>
        </p:txBody>
      </p:sp>
      <p:pic>
        <p:nvPicPr>
          <p:cNvPr id="5" name="Picture 4" descr="Informed Search Algorithms"/>
          <p:cNvPicPr/>
          <p:nvPr/>
        </p:nvPicPr>
        <p:blipFill>
          <a:blip r:embed="rId2">
            <a:extLst>
              <a:ext uri="{28A0092B-C50C-407E-A947-70E740481C1C}">
                <a14:useLocalDpi xmlns:a14="http://schemas.microsoft.com/office/drawing/2010/main" val="0"/>
              </a:ext>
            </a:extLst>
          </a:blip>
          <a:srcRect/>
          <a:stretch>
            <a:fillRect/>
          </a:stretch>
        </p:blipFill>
        <p:spPr bwMode="auto">
          <a:xfrm>
            <a:off x="5616376" y="2159133"/>
            <a:ext cx="4149353" cy="1900278"/>
          </a:xfrm>
          <a:prstGeom prst="rect">
            <a:avLst/>
          </a:prstGeom>
          <a:noFill/>
          <a:ln>
            <a:noFill/>
          </a:ln>
        </p:spPr>
      </p:pic>
    </p:spTree>
    <p:extLst>
      <p:ext uri="{BB962C8B-B14F-4D97-AF65-F5344CB8AC3E}">
        <p14:creationId xmlns:p14="http://schemas.microsoft.com/office/powerpoint/2010/main" val="1558993119"/>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b="1" dirty="0" smtClean="0"/>
              <a:t>A* search Algorithm</a:t>
            </a:r>
            <a:r>
              <a:rPr lang="en-US" b="1" dirty="0" smtClean="0"/>
              <a:t/>
            </a:r>
            <a:br>
              <a:rPr lang="en-US" b="1" dirty="0" smtClean="0"/>
            </a:br>
            <a:endParaRPr lang="en-US" dirty="0"/>
          </a:p>
        </p:txBody>
      </p:sp>
      <p:sp>
        <p:nvSpPr>
          <p:cNvPr id="3" name="Text Placeholder 2"/>
          <p:cNvSpPr>
            <a:spLocks noGrp="1"/>
          </p:cNvSpPr>
          <p:nvPr>
            <p:ph type="body"/>
          </p:nvPr>
        </p:nvSpPr>
        <p:spPr>
          <a:xfrm>
            <a:off x="503640" y="1326240"/>
            <a:ext cx="8281088" cy="3856680"/>
          </a:xfrm>
        </p:spPr>
        <p:txBody>
          <a:bodyPr>
            <a:normAutofit/>
          </a:bodyPr>
          <a:lstStyle/>
          <a:p>
            <a:r>
              <a:rPr lang="en-US" b="1" dirty="0" smtClean="0"/>
              <a:t>Step1</a:t>
            </a:r>
            <a:r>
              <a:rPr lang="en-US" b="1" dirty="0"/>
              <a:t>:</a:t>
            </a:r>
            <a:r>
              <a:rPr lang="en-US" dirty="0"/>
              <a:t> Place the starting node in the OPEN list.</a:t>
            </a:r>
          </a:p>
          <a:p>
            <a:r>
              <a:rPr lang="en-US" b="1" dirty="0"/>
              <a:t>Step 2:</a:t>
            </a:r>
            <a:r>
              <a:rPr lang="en-US" dirty="0"/>
              <a:t> Check if the OPEN list is empty or not, if the list is empty then return failure and stops.</a:t>
            </a:r>
          </a:p>
          <a:p>
            <a:r>
              <a:rPr lang="en-US" b="1" dirty="0"/>
              <a:t>Step 3:</a:t>
            </a:r>
            <a:r>
              <a:rPr lang="en-US" dirty="0"/>
              <a:t> Select the node from the OPEN list which has the smallest value of evaluation function (</a:t>
            </a:r>
            <a:r>
              <a:rPr lang="en-US" dirty="0" err="1"/>
              <a:t>g+h</a:t>
            </a:r>
            <a:r>
              <a:rPr lang="en-US" dirty="0"/>
              <a:t>), if node n is goal node then return success and stop, otherwise</a:t>
            </a:r>
          </a:p>
          <a:p>
            <a:r>
              <a:rPr lang="en-US" b="1" dirty="0"/>
              <a:t>Step 4:</a:t>
            </a:r>
            <a:r>
              <a:rPr lang="en-US" dirty="0"/>
              <a:t> Expand node n and generate all of its successors, and put n into the closed list. For each successor n', check whether n' is already in the OPEN or CLOSED list, if not then compute evaluation function for n' and place into Open list.</a:t>
            </a:r>
          </a:p>
          <a:p>
            <a:r>
              <a:rPr lang="en-US" b="1" dirty="0"/>
              <a:t>Step 5:</a:t>
            </a:r>
            <a:r>
              <a:rPr lang="en-US" dirty="0"/>
              <a:t> Else if node n' is already in OPEN and CLOSED, then it should be attached to the back pointer which reflects the lowest g(n') value.</a:t>
            </a:r>
          </a:p>
          <a:p>
            <a:r>
              <a:rPr lang="en-US" b="1" dirty="0"/>
              <a:t>Step 6:</a:t>
            </a:r>
            <a:r>
              <a:rPr lang="en-US" dirty="0"/>
              <a:t> Return to </a:t>
            </a:r>
            <a:r>
              <a:rPr lang="en-US" b="1" dirty="0"/>
              <a:t>Step 2</a:t>
            </a:r>
            <a:r>
              <a:rPr lang="en-US" dirty="0"/>
              <a:t>.</a:t>
            </a:r>
          </a:p>
          <a:p>
            <a:endParaRPr lang="en-US" dirty="0"/>
          </a:p>
        </p:txBody>
      </p:sp>
    </p:spTree>
    <p:extLst>
      <p:ext uri="{BB962C8B-B14F-4D97-AF65-F5344CB8AC3E}">
        <p14:creationId xmlns:p14="http://schemas.microsoft.com/office/powerpoint/2010/main" val="2880018193"/>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A star search</a:t>
            </a:r>
            <a:endParaRPr lang="en-US" b="1" dirty="0"/>
          </a:p>
        </p:txBody>
      </p:sp>
      <p:sp>
        <p:nvSpPr>
          <p:cNvPr id="3" name="Text Placeholder 2"/>
          <p:cNvSpPr>
            <a:spLocks noGrp="1"/>
          </p:cNvSpPr>
          <p:nvPr>
            <p:ph type="body"/>
          </p:nvPr>
        </p:nvSpPr>
        <p:spPr>
          <a:xfrm>
            <a:off x="863848" y="603028"/>
            <a:ext cx="8136904" cy="2304256"/>
          </a:xfrm>
        </p:spPr>
        <p:txBody>
          <a:bodyPr>
            <a:normAutofit/>
          </a:bodyPr>
          <a:lstStyle/>
          <a:p>
            <a:r>
              <a:rPr lang="en-US" b="1" dirty="0"/>
              <a:t>Advantages:</a:t>
            </a:r>
          </a:p>
          <a:p>
            <a:pPr lvl="0"/>
            <a:r>
              <a:rPr lang="en-US" dirty="0"/>
              <a:t>A* search algorithm is the best algorithm than other search algorithms.</a:t>
            </a:r>
          </a:p>
          <a:p>
            <a:pPr lvl="0"/>
            <a:r>
              <a:rPr lang="en-US" dirty="0"/>
              <a:t>A* search algorithm is optimal and complete.</a:t>
            </a:r>
          </a:p>
          <a:p>
            <a:pPr lvl="0"/>
            <a:r>
              <a:rPr lang="en-US" dirty="0"/>
              <a:t>This algorithm can solve very complex problems.</a:t>
            </a:r>
          </a:p>
          <a:p>
            <a:endParaRPr lang="en-US" dirty="0"/>
          </a:p>
        </p:txBody>
      </p:sp>
      <p:sp>
        <p:nvSpPr>
          <p:cNvPr id="4" name="Text Placeholder 3"/>
          <p:cNvSpPr>
            <a:spLocks noGrp="1"/>
          </p:cNvSpPr>
          <p:nvPr>
            <p:ph type="body"/>
          </p:nvPr>
        </p:nvSpPr>
        <p:spPr/>
        <p:txBody>
          <a:bodyPr/>
          <a:lstStyle/>
          <a:p>
            <a:endParaRPr lang="en-US" b="1" dirty="0" smtClean="0"/>
          </a:p>
          <a:p>
            <a:endParaRPr lang="en-US" b="1" dirty="0"/>
          </a:p>
          <a:p>
            <a:endParaRPr lang="en-US" b="1" dirty="0" smtClean="0"/>
          </a:p>
          <a:p>
            <a:endParaRPr lang="en-US" b="1" dirty="0"/>
          </a:p>
          <a:p>
            <a:endParaRPr lang="en-US" b="1" dirty="0" smtClean="0"/>
          </a:p>
          <a:p>
            <a:endParaRPr lang="en-US" b="1" dirty="0"/>
          </a:p>
          <a:p>
            <a:endParaRPr lang="en-US" b="1" dirty="0" smtClean="0"/>
          </a:p>
          <a:p>
            <a:endParaRPr lang="en-US" b="1" dirty="0"/>
          </a:p>
          <a:p>
            <a:endParaRPr lang="en-US" b="1" dirty="0" smtClean="0"/>
          </a:p>
          <a:p>
            <a:endParaRPr lang="en-US" b="1" dirty="0"/>
          </a:p>
          <a:p>
            <a:endParaRPr lang="en-US" b="1" dirty="0" smtClean="0"/>
          </a:p>
          <a:p>
            <a:endParaRPr lang="en-US" b="1" dirty="0"/>
          </a:p>
          <a:p>
            <a:endParaRPr lang="en-US" b="1" dirty="0" smtClean="0"/>
          </a:p>
          <a:p>
            <a:endParaRPr lang="en-US" b="1" dirty="0"/>
          </a:p>
          <a:p>
            <a:endParaRPr lang="en-US" b="1" dirty="0" smtClean="0"/>
          </a:p>
          <a:p>
            <a:endParaRPr lang="en-US" b="1" dirty="0"/>
          </a:p>
          <a:p>
            <a:endParaRPr lang="en-US" b="1" dirty="0" smtClean="0"/>
          </a:p>
          <a:p>
            <a:endParaRPr lang="en-US" b="1" dirty="0"/>
          </a:p>
          <a:p>
            <a:endParaRPr lang="en-US" b="1" dirty="0" smtClean="0"/>
          </a:p>
          <a:p>
            <a:endParaRPr lang="en-US" b="1" dirty="0"/>
          </a:p>
          <a:p>
            <a:endParaRPr lang="en-US" b="1" dirty="0" smtClean="0"/>
          </a:p>
          <a:p>
            <a:endParaRPr lang="en-US" b="1" dirty="0"/>
          </a:p>
          <a:p>
            <a:r>
              <a:rPr lang="en-US" b="1" dirty="0" smtClean="0"/>
              <a:t>Disadvantages:</a:t>
            </a:r>
          </a:p>
          <a:p>
            <a:pPr lvl="0"/>
            <a:r>
              <a:rPr lang="en-US" dirty="0" smtClean="0"/>
              <a:t>It does not always produce the shortest path as it mostly based on heuristics and approximation.</a:t>
            </a:r>
          </a:p>
          <a:p>
            <a:pPr lvl="0"/>
            <a:r>
              <a:rPr lang="en-US" dirty="0" smtClean="0"/>
              <a:t>A* search algorithm has some complexity issues.</a:t>
            </a:r>
          </a:p>
          <a:p>
            <a:pPr lvl="0"/>
            <a:r>
              <a:rPr lang="en-US" dirty="0" smtClean="0"/>
              <a:t>The main drawback of A* is memory requirement as it keeps all generated nodes in the memory, so it is not practical for various large-scale problems.</a:t>
            </a:r>
          </a:p>
          <a:p>
            <a:endParaRPr lang="en-US" dirty="0"/>
          </a:p>
        </p:txBody>
      </p:sp>
    </p:spTree>
    <p:extLst>
      <p:ext uri="{BB962C8B-B14F-4D97-AF65-F5344CB8AC3E}">
        <p14:creationId xmlns:p14="http://schemas.microsoft.com/office/powerpoint/2010/main" val="550817572"/>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b="1" dirty="0" smtClean="0"/>
              <a:t>Example of A star search</a:t>
            </a:r>
            <a:endParaRPr lang="en-US" sz="3200" b="1" dirty="0"/>
          </a:p>
        </p:txBody>
      </p:sp>
      <p:sp>
        <p:nvSpPr>
          <p:cNvPr id="3" name="Text Placeholder 2"/>
          <p:cNvSpPr>
            <a:spLocks noGrp="1"/>
          </p:cNvSpPr>
          <p:nvPr>
            <p:ph type="body"/>
          </p:nvPr>
        </p:nvSpPr>
        <p:spPr/>
        <p:txBody>
          <a:bodyPr/>
          <a:lstStyle/>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p:txBody>
      </p:sp>
      <p:sp>
        <p:nvSpPr>
          <p:cNvPr id="6" name="TextBox 5"/>
          <p:cNvSpPr txBox="1"/>
          <p:nvPr/>
        </p:nvSpPr>
        <p:spPr>
          <a:xfrm>
            <a:off x="287784" y="1539131"/>
            <a:ext cx="4536504" cy="3139321"/>
          </a:xfrm>
          <a:prstGeom prst="rect">
            <a:avLst/>
          </a:prstGeom>
          <a:noFill/>
        </p:spPr>
        <p:txBody>
          <a:bodyPr wrap="square" rtlCol="0">
            <a:spAutoFit/>
          </a:bodyPr>
          <a:lstStyle/>
          <a:p>
            <a:endParaRPr lang="en-US" dirty="0"/>
          </a:p>
          <a:p>
            <a:endParaRPr lang="en-US" dirty="0"/>
          </a:p>
          <a:p>
            <a:r>
              <a:rPr lang="en-US" dirty="0"/>
              <a:t>In this example, we will traverse the given graph using the A* algorithm. The heuristic value of all states is given in the below table so we will calculate the f(n) of each state using the formula f(n)= g(n) + h(n), where g(n) is the cost to reach any node from start state.</a:t>
            </a:r>
          </a:p>
          <a:p>
            <a:r>
              <a:rPr lang="en-US" dirty="0"/>
              <a:t>Here we will use OPEN and CLOSED list.</a:t>
            </a:r>
          </a:p>
          <a:p>
            <a:endParaRPr lang="en-US" dirty="0"/>
          </a:p>
        </p:txBody>
      </p:sp>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2400" y="1683147"/>
            <a:ext cx="2657475" cy="1876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11135993"/>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smtClean="0"/>
              <a:t>Solution</a:t>
            </a:r>
            <a:endParaRPr lang="en-US" sz="3200" dirty="0"/>
          </a:p>
        </p:txBody>
      </p:sp>
      <p:sp>
        <p:nvSpPr>
          <p:cNvPr id="3" name="Text Placeholder 2"/>
          <p:cNvSpPr>
            <a:spLocks noGrp="1"/>
          </p:cNvSpPr>
          <p:nvPr>
            <p:ph type="body"/>
          </p:nvPr>
        </p:nvSpPr>
        <p:spPr>
          <a:xfrm>
            <a:off x="515020" y="1611139"/>
            <a:ext cx="3301157" cy="3672408"/>
          </a:xfrm>
        </p:spPr>
        <p:txBody>
          <a:bodyPr/>
          <a:lstStyle/>
          <a:p>
            <a:endParaRPr lang="en-US" dirty="0"/>
          </a:p>
        </p:txBody>
      </p:sp>
      <p:sp>
        <p:nvSpPr>
          <p:cNvPr id="4" name="Text Placeholder 3"/>
          <p:cNvSpPr>
            <a:spLocks noGrp="1"/>
          </p:cNvSpPr>
          <p:nvPr>
            <p:ph type="body"/>
          </p:nvPr>
        </p:nvSpPr>
        <p:spPr>
          <a:xfrm>
            <a:off x="4032200" y="1326240"/>
            <a:ext cx="6048425" cy="3856680"/>
          </a:xfrm>
        </p:spPr>
        <p:txBody>
          <a:bodyPr/>
          <a:lstStyle/>
          <a:p>
            <a:r>
              <a:rPr lang="en-US" b="1" dirty="0"/>
              <a:t>Initialization:</a:t>
            </a:r>
            <a:r>
              <a:rPr lang="en-US" dirty="0"/>
              <a:t> {(S, 5)}</a:t>
            </a:r>
          </a:p>
          <a:p>
            <a:r>
              <a:rPr lang="en-US" b="1" dirty="0"/>
              <a:t>Iteration1:</a:t>
            </a:r>
            <a:r>
              <a:rPr lang="en-US" dirty="0"/>
              <a:t> {(S--&gt; A, 4), (S--&gt;G, 10)}</a:t>
            </a:r>
          </a:p>
          <a:p>
            <a:r>
              <a:rPr lang="en-US" b="1" dirty="0"/>
              <a:t>Iteration2:</a:t>
            </a:r>
            <a:r>
              <a:rPr lang="en-US" dirty="0"/>
              <a:t> {(S--&gt; A--&gt;C, 4), (S--&gt; A--&gt;B, 7), (S--&gt;G, 10)}</a:t>
            </a:r>
          </a:p>
          <a:p>
            <a:r>
              <a:rPr lang="en-US" b="1" dirty="0"/>
              <a:t>Iteration3:</a:t>
            </a:r>
            <a:r>
              <a:rPr lang="en-US" dirty="0"/>
              <a:t> {(S--&gt; A--&gt;C---&gt;G, 6), (S--&gt; A--&gt;C---&gt;D, 11), (S--&gt; A--&gt;B, 7), (S--&gt;G, 10)}</a:t>
            </a:r>
          </a:p>
          <a:p>
            <a:r>
              <a:rPr lang="en-US" b="1" dirty="0"/>
              <a:t>Iteration 4</a:t>
            </a:r>
            <a:r>
              <a:rPr lang="en-US" dirty="0"/>
              <a:t> will give the final result, as </a:t>
            </a:r>
            <a:r>
              <a:rPr lang="en-US" b="1" dirty="0"/>
              <a:t>S---&gt;A---&gt;C---&gt;G</a:t>
            </a:r>
            <a:r>
              <a:rPr lang="en-US" dirty="0"/>
              <a:t> it provides the optimal path with cost 6.</a:t>
            </a:r>
          </a:p>
          <a:p>
            <a:endParaRPr lang="en-US" dirty="0"/>
          </a:p>
        </p:txBody>
      </p:sp>
      <p:pic>
        <p:nvPicPr>
          <p:cNvPr id="5" name="Picture 4" descr="Informed Search Algorithms"/>
          <p:cNvPicPr/>
          <p:nvPr/>
        </p:nvPicPr>
        <p:blipFill>
          <a:blip r:embed="rId2">
            <a:extLst>
              <a:ext uri="{28A0092B-C50C-407E-A947-70E740481C1C}">
                <a14:useLocalDpi xmlns:a14="http://schemas.microsoft.com/office/drawing/2010/main" val="0"/>
              </a:ext>
            </a:extLst>
          </a:blip>
          <a:srcRect/>
          <a:stretch>
            <a:fillRect/>
          </a:stretch>
        </p:blipFill>
        <p:spPr bwMode="auto">
          <a:xfrm>
            <a:off x="215776" y="1496070"/>
            <a:ext cx="3456384" cy="3665855"/>
          </a:xfrm>
          <a:prstGeom prst="rect">
            <a:avLst/>
          </a:prstGeom>
          <a:noFill/>
          <a:ln>
            <a:noFill/>
          </a:ln>
        </p:spPr>
      </p:pic>
    </p:spTree>
    <p:extLst>
      <p:ext uri="{BB962C8B-B14F-4D97-AF65-F5344CB8AC3E}">
        <p14:creationId xmlns:p14="http://schemas.microsoft.com/office/powerpoint/2010/main" val="3589372015"/>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AO*  search algorithm (AND OR graph)</a:t>
            </a:r>
            <a:endParaRPr lang="en-US" dirty="0"/>
          </a:p>
        </p:txBody>
      </p:sp>
      <p:sp>
        <p:nvSpPr>
          <p:cNvPr id="3" name="Text Placeholder 2"/>
          <p:cNvSpPr>
            <a:spLocks noGrp="1"/>
          </p:cNvSpPr>
          <p:nvPr>
            <p:ph type="body"/>
          </p:nvPr>
        </p:nvSpPr>
        <p:spPr>
          <a:xfrm>
            <a:off x="503640" y="1326240"/>
            <a:ext cx="8929160" cy="3856680"/>
          </a:xfrm>
        </p:spPr>
        <p:txBody>
          <a:bodyPr/>
          <a:lstStyle/>
          <a:p>
            <a:r>
              <a:rPr lang="en-US" b="1" dirty="0" smtClean="0"/>
              <a:t>AO* algorithm</a:t>
            </a:r>
            <a:r>
              <a:rPr lang="en-US" dirty="0"/>
              <a:t> works mainly based on two phases. First phase will find a heuristic value for nodes and arcs in a particular level. </a:t>
            </a:r>
            <a:r>
              <a:rPr lang="en-US" dirty="0" smtClean="0"/>
              <a:t>It used AND OR to find the optimal path.</a:t>
            </a:r>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p:txBody>
      </p:sp>
      <p:pic>
        <p:nvPicPr>
          <p:cNvPr id="6"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9832" y="2403227"/>
            <a:ext cx="4464496" cy="29398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28527155"/>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b="1" dirty="0"/>
              <a:t> </a:t>
            </a:r>
            <a:r>
              <a:rPr lang="en-US" sz="3200" b="1" dirty="0" smtClean="0"/>
              <a:t>Local Search</a:t>
            </a:r>
            <a:endParaRPr lang="en-US" sz="3200" b="1" dirty="0"/>
          </a:p>
        </p:txBody>
      </p:sp>
      <p:sp>
        <p:nvSpPr>
          <p:cNvPr id="3" name="Text Placeholder 2"/>
          <p:cNvSpPr>
            <a:spLocks noGrp="1"/>
          </p:cNvSpPr>
          <p:nvPr>
            <p:ph type="body"/>
          </p:nvPr>
        </p:nvSpPr>
        <p:spPr>
          <a:xfrm>
            <a:off x="791840" y="1035075"/>
            <a:ext cx="8494560" cy="946080"/>
          </a:xfrm>
        </p:spPr>
        <p:txBody>
          <a:bodyPr/>
          <a:lstStyle/>
          <a:p>
            <a:r>
              <a:rPr lang="en-US" dirty="0" smtClean="0"/>
              <a:t>They </a:t>
            </a:r>
            <a:r>
              <a:rPr lang="en-US" dirty="0"/>
              <a:t>start from a prospective solution and then move to a neighboring solution.</a:t>
            </a:r>
            <a:r>
              <a:rPr lang="en-US" dirty="0" smtClean="0"/>
              <a:t> </a:t>
            </a:r>
            <a:br>
              <a:rPr lang="en-US" dirty="0" smtClean="0"/>
            </a:br>
            <a:endParaRPr lang="en-US" dirty="0"/>
          </a:p>
        </p:txBody>
      </p:sp>
      <p:sp>
        <p:nvSpPr>
          <p:cNvPr id="4" name="Text Placeholder 3"/>
          <p:cNvSpPr>
            <a:spLocks noGrp="1"/>
          </p:cNvSpPr>
          <p:nvPr>
            <p:ph type="body"/>
          </p:nvPr>
        </p:nvSpPr>
        <p:spPr>
          <a:xfrm>
            <a:off x="719832" y="1827163"/>
            <a:ext cx="9073008" cy="2952328"/>
          </a:xfrm>
        </p:spPr>
        <p:txBody>
          <a:bodyPr>
            <a:normAutofit fontScale="40000" lnSpcReduction="20000"/>
          </a:bodyPr>
          <a:lstStyle/>
          <a:p>
            <a:r>
              <a:rPr lang="en-US" sz="6400" b="1" dirty="0" smtClean="0"/>
              <a:t>Hill-Climbing </a:t>
            </a:r>
            <a:r>
              <a:rPr lang="en-US" sz="6400" b="1" dirty="0"/>
              <a:t>Search</a:t>
            </a:r>
            <a:br>
              <a:rPr lang="en-US" sz="6400" b="1" dirty="0"/>
            </a:br>
            <a:r>
              <a:rPr lang="en-US" sz="6400" dirty="0"/>
              <a:t>It is an iterative algorithm that starts with an arbitrary solution to a problem </a:t>
            </a:r>
            <a:r>
              <a:rPr lang="en-US" sz="6400" dirty="0" smtClean="0"/>
              <a:t>and attempts </a:t>
            </a:r>
            <a:r>
              <a:rPr lang="en-US" sz="6400" dirty="0"/>
              <a:t>to find a better solution by changing a single element of the </a:t>
            </a:r>
            <a:r>
              <a:rPr lang="en-US" sz="6400" dirty="0" smtClean="0"/>
              <a:t>solution incrementally</a:t>
            </a:r>
            <a:r>
              <a:rPr lang="en-US" sz="6400" dirty="0"/>
              <a:t>. If the change produces a better solution, an incremental change is</a:t>
            </a:r>
            <a:br>
              <a:rPr lang="en-US" sz="6400" dirty="0"/>
            </a:br>
            <a:r>
              <a:rPr lang="en-US" sz="6400" dirty="0"/>
              <a:t>taken as a new solution. This process is repeated until there are no further</a:t>
            </a:r>
            <a:br>
              <a:rPr lang="en-US" sz="6400" dirty="0"/>
            </a:br>
            <a:r>
              <a:rPr lang="en-US" sz="6400" dirty="0"/>
              <a:t>improvements.</a:t>
            </a:r>
            <a:br>
              <a:rPr lang="en-US" sz="6400" dirty="0"/>
            </a:br>
            <a:r>
              <a:rPr lang="en-US" dirty="0" smtClean="0"/>
              <a:t/>
            </a:r>
            <a:br>
              <a:rPr lang="en-US" dirty="0" smtClean="0"/>
            </a:br>
            <a:endParaRPr lang="en-US" dirty="0"/>
          </a:p>
        </p:txBody>
      </p:sp>
    </p:spTree>
    <p:extLst>
      <p:ext uri="{BB962C8B-B14F-4D97-AF65-F5344CB8AC3E}">
        <p14:creationId xmlns:p14="http://schemas.microsoft.com/office/powerpoint/2010/main" val="3748260406"/>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p:nvPr>
        </p:nvSpPr>
        <p:spPr>
          <a:xfrm>
            <a:off x="503640" y="1326240"/>
            <a:ext cx="8569120" cy="3856680"/>
          </a:xfrm>
        </p:spPr>
        <p:txBody>
          <a:bodyPr>
            <a:normAutofit/>
          </a:bodyPr>
          <a:lstStyle/>
          <a:p>
            <a:r>
              <a:rPr lang="en-US" dirty="0" smtClean="0"/>
              <a:t>function Hill-Climbing (problem), returns a state that is a local maximum.</a:t>
            </a:r>
            <a:br>
              <a:rPr lang="en-US" dirty="0" smtClean="0"/>
            </a:br>
            <a:r>
              <a:rPr lang="en-US" dirty="0" smtClean="0"/>
              <a:t>inputs: problem, a problem</a:t>
            </a:r>
            <a:br>
              <a:rPr lang="en-US" dirty="0" smtClean="0"/>
            </a:br>
            <a:r>
              <a:rPr lang="en-US" dirty="0" smtClean="0"/>
              <a:t>local variables: </a:t>
            </a:r>
            <a:r>
              <a:rPr lang="en-US" i="1" dirty="0" smtClean="0"/>
              <a:t>current</a:t>
            </a:r>
            <a:r>
              <a:rPr lang="en-US" dirty="0" smtClean="0"/>
              <a:t>, a node</a:t>
            </a:r>
            <a:br>
              <a:rPr lang="en-US" dirty="0" smtClean="0"/>
            </a:br>
            <a:r>
              <a:rPr lang="en-US" i="1" dirty="0" smtClean="0"/>
              <a:t>neighbor</a:t>
            </a:r>
            <a:r>
              <a:rPr lang="en-US" dirty="0" smtClean="0"/>
              <a:t>, a node</a:t>
            </a:r>
            <a:br>
              <a:rPr lang="en-US" dirty="0" smtClean="0"/>
            </a:br>
            <a:r>
              <a:rPr lang="en-US" dirty="0" smtClean="0"/>
              <a:t>current ←</a:t>
            </a:r>
            <a:r>
              <a:rPr lang="en-US" dirty="0" err="1" smtClean="0"/>
              <a:t>Make_Node</a:t>
            </a:r>
            <a:r>
              <a:rPr lang="en-US" dirty="0" smtClean="0"/>
              <a:t>(Initial-State[problem])</a:t>
            </a:r>
            <a:br>
              <a:rPr lang="en-US" dirty="0" smtClean="0"/>
            </a:br>
            <a:r>
              <a:rPr lang="en-US" dirty="0" smtClean="0"/>
              <a:t>loop</a:t>
            </a:r>
            <a:br>
              <a:rPr lang="en-US" dirty="0" smtClean="0"/>
            </a:br>
            <a:r>
              <a:rPr lang="en-US" dirty="0" smtClean="0"/>
              <a:t>do </a:t>
            </a:r>
            <a:r>
              <a:rPr lang="en-US" i="1" dirty="0" smtClean="0"/>
              <a:t>neighbor </a:t>
            </a:r>
            <a:r>
              <a:rPr lang="en-US" dirty="0" smtClean="0"/>
              <a:t>← a </a:t>
            </a:r>
            <a:r>
              <a:rPr lang="en-US" dirty="0" err="1" smtClean="0"/>
              <a:t>highest_valued</a:t>
            </a:r>
            <a:r>
              <a:rPr lang="en-US" dirty="0" smtClean="0"/>
              <a:t> successor of </a:t>
            </a:r>
            <a:r>
              <a:rPr lang="en-US" i="1" dirty="0" smtClean="0"/>
              <a:t>current</a:t>
            </a:r>
            <a:br>
              <a:rPr lang="en-US" i="1" dirty="0" smtClean="0"/>
            </a:br>
            <a:r>
              <a:rPr lang="en-US" dirty="0" smtClean="0"/>
              <a:t>if Value[</a:t>
            </a:r>
            <a:r>
              <a:rPr lang="en-US" i="1" dirty="0" smtClean="0"/>
              <a:t>neighbor</a:t>
            </a:r>
            <a:r>
              <a:rPr lang="en-US" dirty="0" smtClean="0"/>
              <a:t>] ≤ Value[</a:t>
            </a:r>
            <a:r>
              <a:rPr lang="en-US" i="1" dirty="0" smtClean="0"/>
              <a:t>current</a:t>
            </a:r>
            <a:r>
              <a:rPr lang="en-US" dirty="0" smtClean="0"/>
              <a:t>] then</a:t>
            </a:r>
            <a:br>
              <a:rPr lang="en-US" dirty="0" smtClean="0"/>
            </a:br>
            <a:r>
              <a:rPr lang="en-US" dirty="0" smtClean="0"/>
              <a:t>return State[</a:t>
            </a:r>
            <a:r>
              <a:rPr lang="en-US" i="1" dirty="0" smtClean="0"/>
              <a:t>current</a:t>
            </a:r>
            <a:r>
              <a:rPr lang="en-US" dirty="0" smtClean="0"/>
              <a:t>]</a:t>
            </a:r>
            <a:br>
              <a:rPr lang="en-US" dirty="0" smtClean="0"/>
            </a:br>
            <a:r>
              <a:rPr lang="en-US" i="1" dirty="0" smtClean="0"/>
              <a:t>current </a:t>
            </a:r>
            <a:r>
              <a:rPr lang="en-US" dirty="0" smtClean="0"/>
              <a:t>← </a:t>
            </a:r>
            <a:r>
              <a:rPr lang="en-US" i="1" dirty="0" smtClean="0"/>
              <a:t>neighbor</a:t>
            </a:r>
            <a:br>
              <a:rPr lang="en-US" i="1" dirty="0" smtClean="0"/>
            </a:br>
            <a:r>
              <a:rPr lang="en-US" dirty="0" smtClean="0"/>
              <a:t>end</a:t>
            </a:r>
            <a:br>
              <a:rPr lang="en-US" dirty="0" smtClean="0"/>
            </a:br>
            <a:endParaRPr lang="en-US" dirty="0"/>
          </a:p>
        </p:txBody>
      </p:sp>
    </p:spTree>
    <p:extLst>
      <p:ext uri="{BB962C8B-B14F-4D97-AF65-F5344CB8AC3E}">
        <p14:creationId xmlns:p14="http://schemas.microsoft.com/office/powerpoint/2010/main" val="2961793304"/>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smtClean="0"/>
              <a:t>State space diagram of Hill climbing</a:t>
            </a:r>
            <a:endParaRPr lang="en-US" sz="3200" dirty="0"/>
          </a:p>
        </p:txBody>
      </p:sp>
      <p:pic>
        <p:nvPicPr>
          <p:cNvPr id="5" name="Picture 4" descr="Hill Climbing Algorithm in AI"/>
          <p:cNvPicPr/>
          <p:nvPr/>
        </p:nvPicPr>
        <p:blipFill>
          <a:blip r:embed="rId2">
            <a:extLst>
              <a:ext uri="{28A0092B-C50C-407E-A947-70E740481C1C}">
                <a14:useLocalDpi xmlns:a14="http://schemas.microsoft.com/office/drawing/2010/main" val="0"/>
              </a:ext>
            </a:extLst>
          </a:blip>
          <a:srcRect/>
          <a:stretch>
            <a:fillRect/>
          </a:stretch>
        </p:blipFill>
        <p:spPr bwMode="auto">
          <a:xfrm>
            <a:off x="719832" y="1539131"/>
            <a:ext cx="7200800" cy="3312368"/>
          </a:xfrm>
          <a:prstGeom prst="rect">
            <a:avLst/>
          </a:prstGeom>
          <a:noFill/>
          <a:ln>
            <a:noFill/>
          </a:ln>
        </p:spPr>
      </p:pic>
    </p:spTree>
    <p:extLst>
      <p:ext uri="{BB962C8B-B14F-4D97-AF65-F5344CB8AC3E}">
        <p14:creationId xmlns:p14="http://schemas.microsoft.com/office/powerpoint/2010/main" val="1164704204"/>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r>
              <a:rPr lang="en-US" b="1" dirty="0" smtClean="0"/>
              <a:t>Hill climbing Terms</a:t>
            </a:r>
            <a:endParaRPr lang="en-US" b="1" dirty="0"/>
          </a:p>
        </p:txBody>
      </p:sp>
      <p:sp>
        <p:nvSpPr>
          <p:cNvPr id="3" name="Text Placeholder 2"/>
          <p:cNvSpPr>
            <a:spLocks noGrp="1"/>
          </p:cNvSpPr>
          <p:nvPr>
            <p:ph type="body"/>
          </p:nvPr>
        </p:nvSpPr>
        <p:spPr>
          <a:xfrm>
            <a:off x="503640" y="1326240"/>
            <a:ext cx="8785144" cy="3856680"/>
          </a:xfrm>
        </p:spPr>
        <p:txBody>
          <a:bodyPr>
            <a:normAutofit/>
          </a:bodyPr>
          <a:lstStyle/>
          <a:p>
            <a:r>
              <a:rPr lang="en-US" b="1" dirty="0"/>
              <a:t>Local Maximum:</a:t>
            </a:r>
            <a:r>
              <a:rPr lang="en-US" dirty="0"/>
              <a:t> Local maximum is a state which is better than its neighbor states, but there is also another state which is higher than it.</a:t>
            </a:r>
          </a:p>
          <a:p>
            <a:r>
              <a:rPr lang="en-US" b="1" dirty="0"/>
              <a:t>Global Maximum:</a:t>
            </a:r>
            <a:r>
              <a:rPr lang="en-US" dirty="0"/>
              <a:t> Global maximum is the best possible state of state space landscape. It has the highest value of objective function.</a:t>
            </a:r>
          </a:p>
          <a:p>
            <a:r>
              <a:rPr lang="en-US" b="1" dirty="0"/>
              <a:t>Current state:</a:t>
            </a:r>
            <a:r>
              <a:rPr lang="en-US" dirty="0"/>
              <a:t> It is a state in a landscape diagram where an agent is currently present.</a:t>
            </a:r>
          </a:p>
          <a:p>
            <a:r>
              <a:rPr lang="en-US" b="1" dirty="0"/>
              <a:t>Flat local maximum:</a:t>
            </a:r>
            <a:r>
              <a:rPr lang="en-US" dirty="0"/>
              <a:t> It is a flat space in the landscape where all the neighbor states of current states have the same value.</a:t>
            </a:r>
          </a:p>
          <a:p>
            <a:r>
              <a:rPr lang="en-US" b="1" dirty="0"/>
              <a:t>Shoulder:</a:t>
            </a:r>
            <a:r>
              <a:rPr lang="en-US" dirty="0"/>
              <a:t> It is a plateau region which has an uphill edge.</a:t>
            </a:r>
          </a:p>
          <a:p>
            <a:endParaRPr lang="en-US" dirty="0"/>
          </a:p>
        </p:txBody>
      </p:sp>
    </p:spTree>
    <p:extLst>
      <p:ext uri="{BB962C8B-B14F-4D97-AF65-F5344CB8AC3E}">
        <p14:creationId xmlns:p14="http://schemas.microsoft.com/office/powerpoint/2010/main" val="1699686521"/>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b="1" dirty="0" smtClean="0"/>
              <a:t>Genetic algorithms</a:t>
            </a:r>
            <a:endParaRPr lang="en-US" sz="3200" b="1" dirty="0"/>
          </a:p>
        </p:txBody>
      </p:sp>
      <p:sp>
        <p:nvSpPr>
          <p:cNvPr id="3" name="Text Placeholder 2"/>
          <p:cNvSpPr>
            <a:spLocks noGrp="1"/>
          </p:cNvSpPr>
          <p:nvPr>
            <p:ph type="body"/>
          </p:nvPr>
        </p:nvSpPr>
        <p:spPr>
          <a:xfrm>
            <a:off x="503640" y="1326240"/>
            <a:ext cx="8785144" cy="3856680"/>
          </a:xfrm>
        </p:spPr>
        <p:txBody>
          <a:bodyPr/>
          <a:lstStyle/>
          <a:p>
            <a:r>
              <a:rPr lang="en-US" dirty="0"/>
              <a:t>A </a:t>
            </a:r>
            <a:r>
              <a:rPr lang="en-US" b="1" dirty="0"/>
              <a:t>genetic algorithm</a:t>
            </a:r>
            <a:r>
              <a:rPr lang="en-US" dirty="0"/>
              <a:t> is a search heuristic that is inspired by Charles Darwin’s theory of natural evolution. This algorithm reflects the process of natural selection where the fittest individuals are selected for reproduction in order to produce offspring of the next generation</a:t>
            </a:r>
            <a:r>
              <a:rPr lang="en-US" dirty="0" smtClean="0"/>
              <a:t>.</a:t>
            </a:r>
            <a:r>
              <a:rPr lang="en-US" dirty="0"/>
              <a:t> They produce offspring which inherit the characteristics of the parents and will be added to the next generation. If parents have better fitness, their offspring will be better than parents and have a better chance at surviving</a:t>
            </a:r>
          </a:p>
          <a:p>
            <a:r>
              <a:rPr lang="en-US" dirty="0" smtClean="0"/>
              <a:t/>
            </a:r>
            <a:br>
              <a:rPr lang="en-US" dirty="0" smtClean="0"/>
            </a:br>
            <a:endParaRPr lang="en-US"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80300" y="2979291"/>
            <a:ext cx="5934075" cy="2533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32821064"/>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smtClean="0"/>
              <a:t>Phases Of GA</a:t>
            </a:r>
            <a:endParaRPr lang="en-US" sz="3200" dirty="0"/>
          </a:p>
        </p:txBody>
      </p:sp>
      <p:sp>
        <p:nvSpPr>
          <p:cNvPr id="3" name="Text Placeholder 2"/>
          <p:cNvSpPr>
            <a:spLocks noGrp="1"/>
          </p:cNvSpPr>
          <p:nvPr>
            <p:ph type="body"/>
          </p:nvPr>
        </p:nvSpPr>
        <p:spPr>
          <a:xfrm>
            <a:off x="503640" y="1326240"/>
            <a:ext cx="2736472" cy="3856680"/>
          </a:xfrm>
        </p:spPr>
        <p:txBody>
          <a:bodyPr/>
          <a:lstStyle/>
          <a:p>
            <a:pPr marL="342900" indent="-342900">
              <a:buFont typeface="+mj-lt"/>
              <a:buAutoNum type="arabicParenR"/>
            </a:pPr>
            <a:r>
              <a:rPr lang="en-US" sz="2000" dirty="0"/>
              <a:t>Initial population</a:t>
            </a:r>
          </a:p>
          <a:p>
            <a:pPr marL="342900" indent="-342900">
              <a:buFont typeface="+mj-lt"/>
              <a:buAutoNum type="arabicParenR"/>
            </a:pPr>
            <a:r>
              <a:rPr lang="en-US" sz="2000" dirty="0"/>
              <a:t>Fitness function</a:t>
            </a:r>
          </a:p>
          <a:p>
            <a:pPr marL="342900" indent="-342900">
              <a:buFont typeface="+mj-lt"/>
              <a:buAutoNum type="arabicParenR"/>
            </a:pPr>
            <a:r>
              <a:rPr lang="en-US" sz="2000" dirty="0"/>
              <a:t>Selection</a:t>
            </a:r>
          </a:p>
          <a:p>
            <a:pPr marL="342900" indent="-342900">
              <a:buFont typeface="+mj-lt"/>
              <a:buAutoNum type="arabicParenR"/>
            </a:pPr>
            <a:r>
              <a:rPr lang="en-US" sz="2000" dirty="0"/>
              <a:t>Crossover</a:t>
            </a:r>
          </a:p>
          <a:p>
            <a:pPr marL="342900" indent="-342900">
              <a:buFont typeface="+mj-lt"/>
              <a:buAutoNum type="arabicParenR"/>
            </a:pPr>
            <a:r>
              <a:rPr lang="en-US" sz="2000" dirty="0"/>
              <a:t>Mutation</a:t>
            </a:r>
          </a:p>
          <a:p>
            <a:endParaRPr lang="en-US" dirty="0"/>
          </a:p>
        </p:txBody>
      </p:sp>
      <p:sp>
        <p:nvSpPr>
          <p:cNvPr id="5" name="Rectangle 4"/>
          <p:cNvSpPr/>
          <p:nvPr/>
        </p:nvSpPr>
        <p:spPr>
          <a:xfrm>
            <a:off x="3744168" y="782886"/>
            <a:ext cx="5974829" cy="3693319"/>
          </a:xfrm>
          <a:prstGeom prst="rect">
            <a:avLst/>
          </a:prstGeom>
        </p:spPr>
        <p:txBody>
          <a:bodyPr wrap="square">
            <a:spAutoFit/>
          </a:bodyPr>
          <a:lstStyle/>
          <a:p>
            <a:r>
              <a:rPr lang="en-US" b="1" dirty="0" smtClean="0"/>
              <a:t>1. Initial </a:t>
            </a:r>
            <a:r>
              <a:rPr lang="en-US" b="1" dirty="0"/>
              <a:t>Population</a:t>
            </a:r>
          </a:p>
          <a:p>
            <a:r>
              <a:rPr lang="en-US" dirty="0"/>
              <a:t>The process begins with a set of individuals which is called a </a:t>
            </a:r>
            <a:r>
              <a:rPr lang="en-US" b="1" dirty="0"/>
              <a:t>Population</a:t>
            </a:r>
            <a:r>
              <a:rPr lang="en-US" dirty="0"/>
              <a:t>. Each individual is a solution to the problem you want to solve</a:t>
            </a:r>
            <a:r>
              <a:rPr lang="en-US" dirty="0" smtClean="0"/>
              <a:t>.</a:t>
            </a:r>
            <a:r>
              <a:rPr lang="en-US" dirty="0"/>
              <a:t> </a:t>
            </a:r>
            <a:endParaRPr lang="en-US" dirty="0" smtClean="0"/>
          </a:p>
          <a:p>
            <a:r>
              <a:rPr lang="en-US" dirty="0" smtClean="0"/>
              <a:t>An </a:t>
            </a:r>
            <a:r>
              <a:rPr lang="en-US" dirty="0"/>
              <a:t>individual is characterized by a set of parameters (variables) known as </a:t>
            </a:r>
            <a:r>
              <a:rPr lang="en-US" b="1" dirty="0"/>
              <a:t>Genes</a:t>
            </a:r>
            <a:r>
              <a:rPr lang="en-US" dirty="0"/>
              <a:t>. Genes are joined into a string to form a </a:t>
            </a:r>
            <a:r>
              <a:rPr lang="en-US" b="1" dirty="0"/>
              <a:t>Chromosome</a:t>
            </a:r>
            <a:r>
              <a:rPr lang="en-US" dirty="0"/>
              <a:t> (solution</a:t>
            </a:r>
            <a:r>
              <a:rPr lang="en-US" dirty="0" smtClean="0"/>
              <a:t>).</a:t>
            </a:r>
            <a:r>
              <a:rPr lang="en-US" dirty="0"/>
              <a:t> genes of an individual is represented using a string, in terms of an </a:t>
            </a:r>
            <a:r>
              <a:rPr lang="en-US" dirty="0" smtClean="0"/>
              <a:t>alphabet (</a:t>
            </a:r>
            <a:r>
              <a:rPr lang="en-US" dirty="0"/>
              <a:t>string of 1s and 0s</a:t>
            </a:r>
            <a:r>
              <a:rPr lang="en-US" dirty="0" smtClean="0"/>
              <a:t>)</a:t>
            </a:r>
          </a:p>
          <a:p>
            <a:r>
              <a:rPr lang="en-US" dirty="0" smtClean="0"/>
              <a:t>Genes are encoded  </a:t>
            </a:r>
            <a:r>
              <a:rPr lang="en-US" dirty="0"/>
              <a:t>in a chromosome.</a:t>
            </a:r>
            <a:endParaRPr lang="en-US" dirty="0" smtClean="0"/>
          </a:p>
          <a:p>
            <a:endParaRPr lang="en-US" dirty="0"/>
          </a:p>
          <a:p>
            <a:endParaRPr lang="en-US" dirty="0" smtClean="0"/>
          </a:p>
          <a:p>
            <a:endParaRPr lang="en-US"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64248" y="3843386"/>
            <a:ext cx="3528392" cy="1793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88597616"/>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Text Placeholder 2"/>
          <p:cNvSpPr>
            <a:spLocks noGrp="1"/>
          </p:cNvSpPr>
          <p:nvPr>
            <p:ph type="body"/>
          </p:nvPr>
        </p:nvSpPr>
        <p:spPr>
          <a:xfrm>
            <a:off x="503640" y="1326240"/>
            <a:ext cx="9073176" cy="3856680"/>
          </a:xfrm>
        </p:spPr>
        <p:txBody>
          <a:bodyPr/>
          <a:lstStyle/>
          <a:p>
            <a:r>
              <a:rPr lang="en-US" b="1" dirty="0" smtClean="0"/>
              <a:t>2. Fitness </a:t>
            </a:r>
            <a:r>
              <a:rPr lang="en-US" b="1" dirty="0"/>
              <a:t>Function</a:t>
            </a:r>
          </a:p>
          <a:p>
            <a:r>
              <a:rPr lang="en-US" dirty="0"/>
              <a:t>The </a:t>
            </a:r>
            <a:r>
              <a:rPr lang="en-US" b="1" dirty="0"/>
              <a:t>fitness function</a:t>
            </a:r>
            <a:r>
              <a:rPr lang="en-US" dirty="0"/>
              <a:t> determines how fit an individual is (the ability of an individual to compete with other individuals). It gives a </a:t>
            </a:r>
            <a:r>
              <a:rPr lang="en-US" b="1" dirty="0"/>
              <a:t>fitness score</a:t>
            </a:r>
            <a:r>
              <a:rPr lang="en-US" dirty="0"/>
              <a:t> to each individual. The probability that an individual will be selected for reproduction is based on its fitness score.</a:t>
            </a:r>
          </a:p>
          <a:p>
            <a:r>
              <a:rPr lang="en-US" b="1" dirty="0" smtClean="0"/>
              <a:t>3. Selection</a:t>
            </a:r>
            <a:endParaRPr lang="en-US" b="1" dirty="0"/>
          </a:p>
          <a:p>
            <a:r>
              <a:rPr lang="en-US" dirty="0"/>
              <a:t>The idea of </a:t>
            </a:r>
            <a:r>
              <a:rPr lang="en-US" b="1" dirty="0"/>
              <a:t>selection</a:t>
            </a:r>
            <a:r>
              <a:rPr lang="en-US" dirty="0"/>
              <a:t> phase is to select the fittest individuals and let them pass their genes to the next generation.</a:t>
            </a:r>
          </a:p>
          <a:p>
            <a:r>
              <a:rPr lang="en-US" dirty="0"/>
              <a:t>Two pairs of individuals (</a:t>
            </a:r>
            <a:r>
              <a:rPr lang="en-US" b="1" dirty="0"/>
              <a:t>parents</a:t>
            </a:r>
            <a:r>
              <a:rPr lang="en-US" dirty="0"/>
              <a:t>) are selected based on their fitness scores. Individuals with high fitness have more chance to be selected for reproduction.</a:t>
            </a:r>
          </a:p>
          <a:p>
            <a:endParaRPr lang="en-US" dirty="0"/>
          </a:p>
        </p:txBody>
      </p:sp>
    </p:spTree>
    <p:extLst>
      <p:ext uri="{BB962C8B-B14F-4D97-AF65-F5344CB8AC3E}">
        <p14:creationId xmlns:p14="http://schemas.microsoft.com/office/powerpoint/2010/main" val="2228953679"/>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Text Placeholder 2"/>
          <p:cNvSpPr>
            <a:spLocks noGrp="1"/>
          </p:cNvSpPr>
          <p:nvPr>
            <p:ph type="body"/>
          </p:nvPr>
        </p:nvSpPr>
        <p:spPr/>
        <p:txBody>
          <a:bodyPr/>
          <a:lstStyle/>
          <a:p>
            <a:r>
              <a:rPr lang="en-US" b="1" dirty="0" smtClean="0"/>
              <a:t>4</a:t>
            </a:r>
            <a:r>
              <a:rPr lang="en-US" dirty="0"/>
              <a:t>. Crossover is the most significant phase in a genetic algorithm. For each pair of parents to be mated, a crossover point is chosen at random from within the genes.</a:t>
            </a: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28344" y="1179091"/>
            <a:ext cx="3362325" cy="3171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4"/>
          <p:cNvSpPr txBox="1"/>
          <p:nvPr/>
        </p:nvSpPr>
        <p:spPr>
          <a:xfrm>
            <a:off x="1079872" y="3889251"/>
            <a:ext cx="5544616" cy="923330"/>
          </a:xfrm>
          <a:prstGeom prst="rect">
            <a:avLst/>
          </a:prstGeom>
          <a:noFill/>
        </p:spPr>
        <p:txBody>
          <a:bodyPr wrap="square" rtlCol="0">
            <a:spAutoFit/>
          </a:bodyPr>
          <a:lstStyle/>
          <a:p>
            <a:r>
              <a:rPr lang="en-US" b="1" dirty="0"/>
              <a:t>Offspring</a:t>
            </a:r>
            <a:r>
              <a:rPr lang="en-US" dirty="0"/>
              <a:t> are created by exchanging the genes of parents among themselves until the crossover point is reached.</a:t>
            </a:r>
          </a:p>
        </p:txBody>
      </p:sp>
    </p:spTree>
    <p:extLst>
      <p:ext uri="{BB962C8B-B14F-4D97-AF65-F5344CB8AC3E}">
        <p14:creationId xmlns:p14="http://schemas.microsoft.com/office/powerpoint/2010/main" val="1002470686"/>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11920" y="1727448"/>
            <a:ext cx="5143500" cy="2247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52367663"/>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p:nvPr>
        </p:nvSpPr>
        <p:spPr>
          <a:xfrm>
            <a:off x="935856" y="891059"/>
            <a:ext cx="8494560" cy="946080"/>
          </a:xfrm>
        </p:spPr>
        <p:txBody>
          <a:bodyPr/>
          <a:lstStyle/>
          <a:p>
            <a:endParaRPr lang="en-US" dirty="0" smtClean="0"/>
          </a:p>
          <a:p>
            <a:endParaRPr lang="en-US" dirty="0"/>
          </a:p>
          <a:p>
            <a:endParaRPr lang="en-US" dirty="0" smtClean="0"/>
          </a:p>
          <a:p>
            <a:endParaRPr lang="en-US" dirty="0"/>
          </a:p>
          <a:p>
            <a:r>
              <a:rPr lang="en-US" dirty="0" smtClean="0"/>
              <a:t>In </a:t>
            </a:r>
            <a:r>
              <a:rPr lang="en-US" b="1" dirty="0" smtClean="0"/>
              <a:t>mutation </a:t>
            </a:r>
            <a:r>
              <a:rPr lang="en-US" dirty="0" smtClean="0"/>
              <a:t>some of their genes can be subjected to a </a:t>
            </a:r>
            <a:r>
              <a:rPr lang="en-US" b="1" dirty="0" smtClean="0"/>
              <a:t>mutation</a:t>
            </a:r>
            <a:r>
              <a:rPr lang="en-US" dirty="0" smtClean="0"/>
              <a:t> with a low random probability. </a:t>
            </a:r>
          </a:p>
          <a:p>
            <a:r>
              <a:rPr lang="en-US" dirty="0" smtClean="0"/>
              <a:t>This implies that some of the bits in the bit string can be flipped.</a:t>
            </a:r>
          </a:p>
          <a:p>
            <a:endParaRPr lang="en-US" dirty="0" smtClean="0"/>
          </a:p>
          <a:p>
            <a:r>
              <a:rPr lang="en-US" dirty="0" smtClean="0"/>
              <a:t>This implies that some of the bits in the bit string can be flipped.</a:t>
            </a:r>
          </a:p>
          <a:p>
            <a:endParaRPr lang="en-US" dirty="0" smtClean="0"/>
          </a:p>
          <a:p>
            <a:r>
              <a:rPr lang="en-US" dirty="0" smtClean="0"/>
              <a:t>Mutation occurs to maintain diversity within the population and prevent premature convergence (local Optimum).</a:t>
            </a:r>
            <a:endParaRPr lang="en-US" dirty="0"/>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3848" y="3275451"/>
            <a:ext cx="3730377" cy="2314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72601640"/>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p:nvPr>
        </p:nvSpPr>
        <p:spPr>
          <a:xfrm>
            <a:off x="503640" y="1326240"/>
            <a:ext cx="8425104" cy="1437027"/>
          </a:xfrm>
        </p:spPr>
        <p:txBody>
          <a:bodyPr/>
          <a:lstStyle/>
          <a:p>
            <a:r>
              <a:rPr lang="en-US" b="1" dirty="0"/>
              <a:t>Termination</a:t>
            </a:r>
          </a:p>
          <a:p>
            <a:r>
              <a:rPr lang="en-US" dirty="0"/>
              <a:t>The algorithm terminates if the population has converged (does not produce offspring which are significantly different from the previous generation). Then it is said that the genetic algorithm has provided a set of solutions to our problem.</a:t>
            </a:r>
          </a:p>
          <a:p>
            <a:endParaRPr lang="en-US" dirty="0"/>
          </a:p>
        </p:txBody>
      </p:sp>
      <p:pic>
        <p:nvPicPr>
          <p:cNvPr id="614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3808" y="2907283"/>
            <a:ext cx="7272808" cy="24978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00798328"/>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b="1" dirty="0" smtClean="0"/>
              <a:t>Application areas</a:t>
            </a:r>
            <a:endParaRPr lang="en-US" sz="3200" b="1" dirty="0"/>
          </a:p>
        </p:txBody>
      </p:sp>
      <p:sp>
        <p:nvSpPr>
          <p:cNvPr id="3" name="Subtitle 2"/>
          <p:cNvSpPr>
            <a:spLocks noGrp="1"/>
          </p:cNvSpPr>
          <p:nvPr>
            <p:ph type="subTitle"/>
          </p:nvPr>
        </p:nvSpPr>
        <p:spPr>
          <a:xfrm>
            <a:off x="935856" y="1755155"/>
            <a:ext cx="8494560" cy="3168352"/>
          </a:xfrm>
        </p:spPr>
        <p:txBody>
          <a:bodyPr/>
          <a:lstStyle/>
          <a:p>
            <a:endParaRPr lang="en-US" dirty="0" smtClean="0"/>
          </a:p>
          <a:p>
            <a:endParaRPr lang="en-US" dirty="0"/>
          </a:p>
          <a:p>
            <a:endParaRPr lang="en-US" dirty="0" smtClean="0"/>
          </a:p>
          <a:p>
            <a:endParaRPr lang="en-US" dirty="0"/>
          </a:p>
          <a:p>
            <a:endParaRPr lang="en-US" dirty="0" smtClean="0"/>
          </a:p>
          <a:p>
            <a:r>
              <a:rPr lang="en-US" dirty="0" smtClean="0"/>
              <a:t>   </a:t>
            </a:r>
            <a:endParaRPr lang="en-US" dirty="0"/>
          </a:p>
          <a:p>
            <a:endParaRPr lang="en-US" dirty="0" smtClean="0"/>
          </a:p>
          <a:p>
            <a:endParaRPr lang="en-US" dirty="0"/>
          </a:p>
          <a:p>
            <a:endParaRPr lang="en-US" dirty="0" smtClean="0"/>
          </a:p>
          <a:p>
            <a:endParaRPr lang="en-US" dirty="0"/>
          </a:p>
          <a:p>
            <a:r>
              <a:rPr lang="en-US" dirty="0" smtClean="0"/>
              <a:t>Clustering to optimize a wide range of different fit-functions.</a:t>
            </a:r>
          </a:p>
          <a:p>
            <a:r>
              <a:rPr lang="en-US" dirty="0" smtClean="0"/>
              <a:t>Feature selection for Machine Learning</a:t>
            </a:r>
          </a:p>
          <a:p>
            <a:r>
              <a:rPr lang="en-US" dirty="0" smtClean="0"/>
              <a:t>Learning robot behavior </a:t>
            </a:r>
          </a:p>
          <a:p>
            <a:r>
              <a:rPr lang="en-US" dirty="0" smtClean="0"/>
              <a:t>Image processing using Dense pixel matching</a:t>
            </a:r>
          </a:p>
          <a:p>
            <a:r>
              <a:rPr lang="en-US" dirty="0" smtClean="0"/>
              <a:t>Learning fuzzy rule base</a:t>
            </a:r>
          </a:p>
          <a:p>
            <a:r>
              <a:rPr lang="en-US" dirty="0" smtClean="0"/>
              <a:t>Construction of facial composites of suspects by eyewitnesses  in forensic science</a:t>
            </a:r>
          </a:p>
          <a:p>
            <a:r>
              <a:rPr lang="en-US" dirty="0" smtClean="0"/>
              <a:t>Data Centers</a:t>
            </a:r>
          </a:p>
          <a:p>
            <a:r>
              <a:rPr lang="en-US" dirty="0" smtClean="0"/>
              <a:t>Distributed computer network topologies</a:t>
            </a:r>
          </a:p>
          <a:p>
            <a:r>
              <a:rPr lang="en-US" dirty="0" smtClean="0"/>
              <a:t>Electronic circuit design</a:t>
            </a:r>
          </a:p>
          <a:p>
            <a:endParaRPr lang="en-US" dirty="0" smtClean="0"/>
          </a:p>
          <a:p>
            <a:endParaRPr lang="en-US" dirty="0"/>
          </a:p>
          <a:p>
            <a:endParaRPr lang="en-US" dirty="0" smtClean="0"/>
          </a:p>
          <a:p>
            <a:endParaRPr lang="en-US" dirty="0" smtClean="0"/>
          </a:p>
          <a:p>
            <a:endParaRPr lang="en-US" dirty="0"/>
          </a:p>
          <a:p>
            <a:endParaRPr lang="en-US" dirty="0" smtClean="0"/>
          </a:p>
          <a:p>
            <a:endParaRPr lang="en-US" dirty="0"/>
          </a:p>
          <a:p>
            <a:endParaRPr lang="en-US" dirty="0" smtClean="0"/>
          </a:p>
          <a:p>
            <a:endParaRPr lang="en-US" dirty="0" smtClean="0"/>
          </a:p>
          <a:p>
            <a:endParaRPr lang="en-US" dirty="0"/>
          </a:p>
          <a:p>
            <a:endParaRPr lang="en-US" dirty="0"/>
          </a:p>
        </p:txBody>
      </p:sp>
    </p:spTree>
    <p:extLst>
      <p:ext uri="{BB962C8B-B14F-4D97-AF65-F5344CB8AC3E}">
        <p14:creationId xmlns:p14="http://schemas.microsoft.com/office/powerpoint/2010/main" val="3759822184"/>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b="1" dirty="0"/>
              <a:t> </a:t>
            </a:r>
            <a:r>
              <a:rPr lang="en-US" sz="3200" dirty="0"/>
              <a:t>Adversarial Search</a:t>
            </a:r>
            <a:r>
              <a:rPr lang="en-US" b="1" dirty="0"/>
              <a:t/>
            </a:r>
            <a:br>
              <a:rPr lang="en-US" b="1" dirty="0"/>
            </a:br>
            <a:endParaRPr lang="en-US" b="1" dirty="0"/>
          </a:p>
        </p:txBody>
      </p:sp>
      <p:sp>
        <p:nvSpPr>
          <p:cNvPr id="3" name="Subtitle 2"/>
          <p:cNvSpPr>
            <a:spLocks noGrp="1"/>
          </p:cNvSpPr>
          <p:nvPr>
            <p:ph type="subTitle"/>
          </p:nvPr>
        </p:nvSpPr>
        <p:spPr>
          <a:xfrm>
            <a:off x="503808" y="1326239"/>
            <a:ext cx="9217024" cy="4101323"/>
          </a:xfrm>
        </p:spPr>
        <p:txBody>
          <a:bodyPr/>
          <a:lstStyle/>
          <a:p>
            <a:endParaRPr lang="en-US" b="1" dirty="0" smtClean="0"/>
          </a:p>
          <a:p>
            <a:endParaRPr lang="en-US" b="1" dirty="0"/>
          </a:p>
          <a:p>
            <a:endParaRPr lang="en-US" b="1" dirty="0" smtClean="0"/>
          </a:p>
          <a:p>
            <a:r>
              <a:rPr lang="en-US" sz="1400" dirty="0" smtClean="0"/>
              <a:t>Adversarial </a:t>
            </a:r>
            <a:r>
              <a:rPr lang="en-US" sz="1400" dirty="0"/>
              <a:t>search is a search, where we examine the problem which arises when we try to plan ahead of the world and other agents are planning against us</a:t>
            </a:r>
            <a:r>
              <a:rPr lang="en-US" sz="1400" dirty="0" smtClean="0"/>
              <a:t>.</a:t>
            </a:r>
          </a:p>
          <a:p>
            <a:endParaRPr lang="en-US" sz="1400" b="1" dirty="0"/>
          </a:p>
          <a:p>
            <a:r>
              <a:rPr lang="en-US" sz="1400" b="1" dirty="0"/>
              <a:t>Searches in which two or more players with conflicting goals are trying to explore the same search space for the solution, are called adversarial searches, often known as </a:t>
            </a:r>
            <a:r>
              <a:rPr lang="en-US" sz="1400" b="1" dirty="0" smtClean="0">
                <a:solidFill>
                  <a:srgbClr val="92D050"/>
                </a:solidFill>
              </a:rPr>
              <a:t>Games</a:t>
            </a:r>
          </a:p>
          <a:p>
            <a:endParaRPr lang="en-US" b="1" dirty="0" smtClean="0">
              <a:solidFill>
                <a:srgbClr val="92D050"/>
              </a:solidFill>
            </a:endParaRPr>
          </a:p>
          <a:p>
            <a:endParaRPr lang="en-US" b="1" dirty="0"/>
          </a:p>
          <a:p>
            <a:endParaRPr lang="en-US" b="1" dirty="0" smtClean="0"/>
          </a:p>
          <a:p>
            <a:endParaRPr lang="en-US" b="1" dirty="0"/>
          </a:p>
          <a:p>
            <a:endParaRPr lang="en-US" b="1" dirty="0" smtClean="0"/>
          </a:p>
          <a:p>
            <a:endParaRPr lang="en-US" b="1" dirty="0"/>
          </a:p>
          <a:p>
            <a:endParaRPr lang="en-US" b="1" dirty="0" smtClean="0"/>
          </a:p>
          <a:p>
            <a:endParaRPr lang="en-US" b="1" dirty="0"/>
          </a:p>
          <a:p>
            <a:endParaRPr lang="en-US" b="1" dirty="0" smtClean="0"/>
          </a:p>
          <a:p>
            <a:endParaRPr lang="en-US" dirty="0"/>
          </a:p>
          <a:p>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1264886310"/>
              </p:ext>
            </p:extLst>
          </p:nvPr>
        </p:nvGraphicFramePr>
        <p:xfrm>
          <a:off x="503808" y="3195315"/>
          <a:ext cx="9000999" cy="2008730"/>
        </p:xfrm>
        <a:graphic>
          <a:graphicData uri="http://schemas.openxmlformats.org/drawingml/2006/table">
            <a:tbl>
              <a:tblPr firstRow="1" firstCol="1" bandRow="1">
                <a:tableStyleId>{5C22544A-7EE6-4342-B048-85BDC9FD1C3A}</a:tableStyleId>
              </a:tblPr>
              <a:tblGrid>
                <a:gridCol w="1102283"/>
                <a:gridCol w="3949358"/>
                <a:gridCol w="3949358"/>
              </a:tblGrid>
              <a:tr h="410489">
                <a:tc>
                  <a:txBody>
                    <a:bodyPr/>
                    <a:lstStyle/>
                    <a:p>
                      <a:pPr>
                        <a:lnSpc>
                          <a:spcPct val="115000"/>
                        </a:lnSpc>
                      </a:pPr>
                      <a:endParaRPr lang="en-US" sz="700" dirty="0">
                        <a:effectLst/>
                        <a:latin typeface="Calibri"/>
                        <a:cs typeface="Times New Roman"/>
                      </a:endParaRPr>
                    </a:p>
                  </a:txBody>
                  <a:tcPr marL="74875" marR="74875" marT="74875" marB="74875"/>
                </a:tc>
                <a:tc>
                  <a:txBody>
                    <a:bodyPr/>
                    <a:lstStyle/>
                    <a:p>
                      <a:pPr>
                        <a:lnSpc>
                          <a:spcPct val="115000"/>
                        </a:lnSpc>
                        <a:spcAft>
                          <a:spcPts val="0"/>
                        </a:spcAft>
                      </a:pPr>
                      <a:r>
                        <a:rPr lang="en-US" sz="900" dirty="0">
                          <a:effectLst/>
                        </a:rPr>
                        <a:t>Deterministic</a:t>
                      </a:r>
                      <a:endParaRPr lang="en-US" sz="800" dirty="0">
                        <a:effectLst/>
                        <a:latin typeface="Times New Roman"/>
                        <a:ea typeface="Times New Roman"/>
                        <a:cs typeface="Times New Roman"/>
                      </a:endParaRPr>
                    </a:p>
                  </a:txBody>
                  <a:tcPr marL="74875" marR="74875" marT="74875" marB="74875"/>
                </a:tc>
                <a:tc>
                  <a:txBody>
                    <a:bodyPr/>
                    <a:lstStyle/>
                    <a:p>
                      <a:pPr>
                        <a:lnSpc>
                          <a:spcPct val="115000"/>
                        </a:lnSpc>
                        <a:spcAft>
                          <a:spcPts val="0"/>
                        </a:spcAft>
                      </a:pPr>
                      <a:r>
                        <a:rPr lang="en-US" sz="900">
                          <a:effectLst/>
                        </a:rPr>
                        <a:t>Chance Moves</a:t>
                      </a:r>
                      <a:endParaRPr lang="en-US" sz="800">
                        <a:effectLst/>
                        <a:latin typeface="Times New Roman"/>
                        <a:ea typeface="Times New Roman"/>
                        <a:cs typeface="Times New Roman"/>
                      </a:endParaRPr>
                    </a:p>
                  </a:txBody>
                  <a:tcPr marL="74875" marR="74875" marT="74875" marB="74875"/>
                </a:tc>
              </a:tr>
              <a:tr h="709728">
                <a:tc>
                  <a:txBody>
                    <a:bodyPr/>
                    <a:lstStyle/>
                    <a:p>
                      <a:pPr marL="190500">
                        <a:lnSpc>
                          <a:spcPts val="1725"/>
                        </a:lnSpc>
                        <a:spcAft>
                          <a:spcPts val="0"/>
                        </a:spcAft>
                      </a:pPr>
                      <a:r>
                        <a:rPr lang="en-US" sz="700">
                          <a:effectLst/>
                        </a:rPr>
                        <a:t>Perfect information</a:t>
                      </a:r>
                      <a:endParaRPr lang="en-US" sz="800">
                        <a:effectLst/>
                        <a:latin typeface="Times New Roman"/>
                        <a:ea typeface="Times New Roman"/>
                        <a:cs typeface="Times New Roman"/>
                      </a:endParaRPr>
                    </a:p>
                  </a:txBody>
                  <a:tcPr marL="49917" marR="49917" marT="49917" marB="49917"/>
                </a:tc>
                <a:tc>
                  <a:txBody>
                    <a:bodyPr/>
                    <a:lstStyle/>
                    <a:p>
                      <a:pPr marL="190500">
                        <a:lnSpc>
                          <a:spcPts val="1725"/>
                        </a:lnSpc>
                        <a:spcAft>
                          <a:spcPts val="0"/>
                        </a:spcAft>
                      </a:pPr>
                      <a:r>
                        <a:rPr lang="en-US" sz="700" dirty="0">
                          <a:effectLst/>
                        </a:rPr>
                        <a:t>Chess, Checkers, go, Othello</a:t>
                      </a:r>
                      <a:endParaRPr lang="en-US" sz="800" dirty="0">
                        <a:effectLst/>
                        <a:latin typeface="Times New Roman"/>
                        <a:ea typeface="Times New Roman"/>
                        <a:cs typeface="Times New Roman"/>
                      </a:endParaRPr>
                    </a:p>
                  </a:txBody>
                  <a:tcPr marL="49917" marR="49917" marT="49917" marB="49917"/>
                </a:tc>
                <a:tc>
                  <a:txBody>
                    <a:bodyPr/>
                    <a:lstStyle/>
                    <a:p>
                      <a:pPr marL="190500">
                        <a:lnSpc>
                          <a:spcPts val="1725"/>
                        </a:lnSpc>
                        <a:spcAft>
                          <a:spcPts val="0"/>
                        </a:spcAft>
                      </a:pPr>
                      <a:r>
                        <a:rPr lang="en-US" sz="700">
                          <a:effectLst/>
                        </a:rPr>
                        <a:t>Backgammon, monopoly</a:t>
                      </a:r>
                      <a:endParaRPr lang="en-US" sz="800">
                        <a:effectLst/>
                        <a:latin typeface="Times New Roman"/>
                        <a:ea typeface="Times New Roman"/>
                        <a:cs typeface="Times New Roman"/>
                      </a:endParaRPr>
                    </a:p>
                  </a:txBody>
                  <a:tcPr marL="49917" marR="49917" marT="49917" marB="49917"/>
                </a:tc>
              </a:tr>
              <a:tr h="888513">
                <a:tc>
                  <a:txBody>
                    <a:bodyPr/>
                    <a:lstStyle/>
                    <a:p>
                      <a:pPr marL="190500">
                        <a:lnSpc>
                          <a:spcPts val="1725"/>
                        </a:lnSpc>
                        <a:spcAft>
                          <a:spcPts val="0"/>
                        </a:spcAft>
                      </a:pPr>
                      <a:r>
                        <a:rPr lang="en-US" sz="700">
                          <a:effectLst/>
                        </a:rPr>
                        <a:t>Imperfect information</a:t>
                      </a:r>
                      <a:endParaRPr lang="en-US" sz="800">
                        <a:effectLst/>
                        <a:latin typeface="Times New Roman"/>
                        <a:ea typeface="Times New Roman"/>
                        <a:cs typeface="Times New Roman"/>
                      </a:endParaRPr>
                    </a:p>
                  </a:txBody>
                  <a:tcPr marL="49917" marR="49917" marT="49917" marB="49917"/>
                </a:tc>
                <a:tc>
                  <a:txBody>
                    <a:bodyPr/>
                    <a:lstStyle/>
                    <a:p>
                      <a:pPr marL="190500">
                        <a:lnSpc>
                          <a:spcPts val="1725"/>
                        </a:lnSpc>
                        <a:spcAft>
                          <a:spcPts val="0"/>
                        </a:spcAft>
                      </a:pPr>
                      <a:r>
                        <a:rPr lang="en-US" sz="700" dirty="0">
                          <a:effectLst/>
                        </a:rPr>
                        <a:t>Battleships, blind, tic-tac-toe</a:t>
                      </a:r>
                      <a:endParaRPr lang="en-US" sz="800" dirty="0">
                        <a:effectLst/>
                        <a:latin typeface="Times New Roman"/>
                        <a:ea typeface="Times New Roman"/>
                        <a:cs typeface="Times New Roman"/>
                      </a:endParaRPr>
                    </a:p>
                  </a:txBody>
                  <a:tcPr marL="49917" marR="49917" marT="49917" marB="49917"/>
                </a:tc>
                <a:tc>
                  <a:txBody>
                    <a:bodyPr/>
                    <a:lstStyle/>
                    <a:p>
                      <a:pPr marL="190500">
                        <a:lnSpc>
                          <a:spcPts val="1725"/>
                        </a:lnSpc>
                        <a:spcAft>
                          <a:spcPts val="0"/>
                        </a:spcAft>
                      </a:pPr>
                      <a:r>
                        <a:rPr lang="en-US" sz="700" dirty="0">
                          <a:effectLst/>
                        </a:rPr>
                        <a:t>Bridge, poker, scrabble, nuclear war</a:t>
                      </a:r>
                      <a:endParaRPr lang="en-US" sz="800" dirty="0">
                        <a:effectLst/>
                        <a:latin typeface="Times New Roman"/>
                        <a:ea typeface="Times New Roman"/>
                        <a:cs typeface="Times New Roman"/>
                      </a:endParaRPr>
                    </a:p>
                  </a:txBody>
                  <a:tcPr marL="49917" marR="49917" marT="49917" marB="49917"/>
                </a:tc>
              </a:tr>
            </a:tbl>
          </a:graphicData>
        </a:graphic>
      </p:graphicFrame>
    </p:spTree>
    <p:extLst>
      <p:ext uri="{BB962C8B-B14F-4D97-AF65-F5344CB8AC3E}">
        <p14:creationId xmlns:p14="http://schemas.microsoft.com/office/powerpoint/2010/main" val="1066119080"/>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83928" y="225720"/>
            <a:ext cx="7990272" cy="946080"/>
          </a:xfrm>
        </p:spPr>
        <p:txBody>
          <a:bodyPr/>
          <a:lstStyle/>
          <a:p>
            <a:r>
              <a:rPr lang="en-US" b="1" dirty="0" smtClean="0"/>
              <a:t>REFERENCES</a:t>
            </a:r>
            <a:endParaRPr lang="en-US" b="1" dirty="0"/>
          </a:p>
        </p:txBody>
      </p:sp>
      <p:sp>
        <p:nvSpPr>
          <p:cNvPr id="3" name="Text Placeholder 2"/>
          <p:cNvSpPr>
            <a:spLocks noGrp="1"/>
          </p:cNvSpPr>
          <p:nvPr>
            <p:ph type="body"/>
          </p:nvPr>
        </p:nvSpPr>
        <p:spPr>
          <a:xfrm>
            <a:off x="575816" y="1683147"/>
            <a:ext cx="9001000" cy="2530256"/>
          </a:xfrm>
        </p:spPr>
        <p:txBody>
          <a:bodyPr/>
          <a:lstStyle/>
          <a:p>
            <a:r>
              <a:rPr lang="en-US" sz="1600" dirty="0"/>
              <a:t>Artificial Intelligence: A Modern </a:t>
            </a:r>
            <a:r>
              <a:rPr lang="en-US" sz="1600" dirty="0" smtClean="0"/>
              <a:t>Approach Textbook </a:t>
            </a:r>
            <a:r>
              <a:rPr lang="en-US" sz="1600" dirty="0"/>
              <a:t>by Peter </a:t>
            </a:r>
            <a:r>
              <a:rPr lang="en-US" sz="1600" dirty="0" err="1"/>
              <a:t>Norvig</a:t>
            </a:r>
            <a:r>
              <a:rPr lang="en-US" sz="1600" dirty="0"/>
              <a:t> and Stuart J. </a:t>
            </a:r>
            <a:r>
              <a:rPr lang="en-US" sz="1600" dirty="0" smtClean="0"/>
              <a:t>Russell</a:t>
            </a:r>
          </a:p>
          <a:p>
            <a:r>
              <a:rPr lang="en-US" sz="1600" dirty="0"/>
              <a:t/>
            </a:r>
            <a:br>
              <a:rPr lang="en-US" sz="1600" dirty="0"/>
            </a:br>
            <a:r>
              <a:rPr lang="en-US" dirty="0"/>
              <a:t/>
            </a:r>
            <a:br>
              <a:rPr lang="en-US" dirty="0"/>
            </a:br>
            <a:endParaRPr lang="en-US" dirty="0"/>
          </a:p>
          <a:p>
            <a:endParaRPr lang="en-US" dirty="0"/>
          </a:p>
        </p:txBody>
      </p:sp>
    </p:spTree>
    <p:extLst>
      <p:ext uri="{BB962C8B-B14F-4D97-AF65-F5344CB8AC3E}">
        <p14:creationId xmlns:p14="http://schemas.microsoft.com/office/powerpoint/2010/main" val="1810300693"/>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3226</TotalTime>
  <Words>1197</Words>
  <Application>Microsoft Office PowerPoint</Application>
  <PresentationFormat>Custom</PresentationFormat>
  <Paragraphs>385</Paragraphs>
  <Slides>41</Slides>
  <Notes>1</Notes>
  <HiddenSlides>0</HiddenSlides>
  <MMClips>0</MMClips>
  <ScaleCrop>false</ScaleCrop>
  <HeadingPairs>
    <vt:vector size="4" baseType="variant">
      <vt:variant>
        <vt:lpstr>Theme</vt:lpstr>
      </vt:variant>
      <vt:variant>
        <vt:i4>2</vt:i4>
      </vt:variant>
      <vt:variant>
        <vt:lpstr>Slide Titles</vt:lpstr>
      </vt:variant>
      <vt:variant>
        <vt:i4>41</vt:i4>
      </vt:variant>
    </vt:vector>
  </HeadingPairs>
  <TitlesOfParts>
    <vt:vector size="43" baseType="lpstr">
      <vt:lpstr>Office Theme</vt:lpstr>
      <vt:lpstr>Office Theme</vt:lpstr>
      <vt:lpstr> Problem solving by Search</vt:lpstr>
      <vt:lpstr>PowerPoint Presentation</vt:lpstr>
      <vt:lpstr>    Types of Search</vt:lpstr>
      <vt:lpstr>Breadth First Search</vt:lpstr>
      <vt:lpstr>Depth First Search</vt:lpstr>
      <vt:lpstr>Depth-Limited Search</vt:lpstr>
      <vt:lpstr>Uniform cost search</vt:lpstr>
      <vt:lpstr> Uniform Cost Search  evaluation</vt:lpstr>
      <vt:lpstr>Iterative deepening depth-first Search</vt:lpstr>
      <vt:lpstr>    IDIDS Evaluation</vt:lpstr>
      <vt:lpstr>Bidirectional  search</vt:lpstr>
      <vt:lpstr>PowerPoint Presentation</vt:lpstr>
      <vt:lpstr>BDS Evaluation</vt:lpstr>
      <vt:lpstr>Informed Search Algorithm (heuristic search) </vt:lpstr>
      <vt:lpstr>  h(n) admissibility</vt:lpstr>
      <vt:lpstr>Pure Heuristic Search: </vt:lpstr>
      <vt:lpstr>Greedy Best-first Search</vt:lpstr>
      <vt:lpstr>Best first search algorithm:</vt:lpstr>
      <vt:lpstr>Example</vt:lpstr>
      <vt:lpstr>PowerPoint Presentation</vt:lpstr>
      <vt:lpstr>Evaluation</vt:lpstr>
      <vt:lpstr>A* Search Algorithm: </vt:lpstr>
      <vt:lpstr>A* search Algorithm </vt:lpstr>
      <vt:lpstr>A star search</vt:lpstr>
      <vt:lpstr>Example of A star search</vt:lpstr>
      <vt:lpstr>Solution</vt:lpstr>
      <vt:lpstr>AO*  search algorithm (AND OR graph)</vt:lpstr>
      <vt:lpstr> Local Search</vt:lpstr>
      <vt:lpstr>PowerPoint Presentation</vt:lpstr>
      <vt:lpstr>State space diagram of Hill climbing</vt:lpstr>
      <vt:lpstr> Hill climbing Terms</vt:lpstr>
      <vt:lpstr>Genetic algorithms</vt:lpstr>
      <vt:lpstr>Phases Of GA</vt:lpstr>
      <vt:lpstr>PowerPoint Presentation</vt:lpstr>
      <vt:lpstr>PowerPoint Presentation</vt:lpstr>
      <vt:lpstr>PowerPoint Presentation</vt:lpstr>
      <vt:lpstr>PowerPoint Presentation</vt:lpstr>
      <vt:lpstr>PowerPoint Presentation</vt:lpstr>
      <vt:lpstr>Application areas</vt:lpstr>
      <vt:lpstr> Adversarial Search </vt:lpstr>
      <vt:lpstr>REFERENCES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bob</dc:creator>
  <cp:lastModifiedBy>andrew</cp:lastModifiedBy>
  <cp:revision>193</cp:revision>
  <dcterms:modified xsi:type="dcterms:W3CDTF">2020-07-09T11:24:38Z</dcterms:modified>
</cp:coreProperties>
</file>

<file path=docProps/core0.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2020-05-29T08:41:07Z</dcterms:created>
  <dc:creator>MOSES THIGA</dc:creator>
  <dc:description/>
  <dc:language>en-GB</dc:language>
  <cp:lastModifiedBy>MOSES THIGA</cp:lastModifiedBy>
  <dcterms:modified xsi:type="dcterms:W3CDTF">2020-05-30T22:09:57Z</dcterms:modified>
  <cp:revision>12</cp:revision>
  <dc:subject/>
  <dc:title/>
</cp:coreProperties>
</file>